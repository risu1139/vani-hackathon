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3"/>
    <p:sldMasterId id="2147483657" r:id="rId4"/>
  </p:sldMasterIdLst>
  <p:notesMasterIdLst>
    <p:notesMasterId r:id="rId5"/>
  </p:notesMasterIdLst>
  <p:sldIdLst>
    <p:sldId id="256" r:id="rId6"/>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13"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Problem 4 of 6, Persona Design. The Voice Bot talks to every seller in one voice and one style and keeps it for the whole call. Sellers differ in pace, patience, language and how they object; a seller who gets irritated, confused or rushed mid-call still gets the same delivery. The challenge: before each call build the persona that fits that seller from their seller data, then adapt it live. The goal of this call type is one thing: a meeting between the seller and an IndiaMART executive. Number: 11.5% of all 269,455 answered bot calls (1 Apr to 30 Sep 2026) end with a meeting (meeting_fixed). Among the 12,354 calls that have transcripts the rate is 22.4%, because that set leans to longer calls.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today's VANI uses one script, one voice and one pace for every seller. The opening rests on an enquiry count and the city; the seller details we hold (similar sellers, live buy-lead data, order value, catalogue quality, plan, handler) are not in the call. Right: a persona designed per seller, adapted live. Number: a rush signal in the seller's words (busy, jaldi, time nahi, baad mein, driving, call back) appears in about 21% of transcribed calls; those calls end with a meeting about 14% of the time against about 26% when no rush signal appears (keyword method on 11,834 transcribed calls, approximate; the base in that set is 23.4%). Transcribed calls skew toward engaged sellers (22.4% meeting rate against 11.5% over all 269,455 answered calls), so read the rush effect inside that set, not against the 11.5% base. A rushed seller roughly halves the chance of a meeting, and today's VANI does not change for them.</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More than 50 data points per seller, in groups: identity (company, contact, designation; recorded gender only chooses the voice and is never said); location and language (city, state, GST state, onboarding cities, city tier, Hindi belt, languages heard on calls); business (plan free or paid, member since, turnover band, nature, profile text, company page); catalogue (top categories, product counts, quality score, products without photo or price, top five categories by active products); demand and money (buy leads bought, credits and lapse, rejection reasons, category value, seller order value, same-size peers, showcase leads, competitor list with plan); enquiries and channels; relationship (assigned sales handler, complaints, executive contact, do-not-call and frustration flags); past VANI calls with mood signals and objections. Size labels: below 40 lakh small, 40 lakh to 1.5 crore medium, 1.5 to 5 crore medium-high, 5 crore and above high. Plan: free is NSD, paid is CSD, TMW, KCD and other paid divisions.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What each persona does. P0 default: natural Hinglish, polite, direct, two sentences; the control arm used to measure uplift. P1 numbers-first advisor: leads with one concrete number, confident and specific; for mid or large turnover and active buy-lead users. P2 warm local helper: speaks in the seller's language with simple words and frames the meeting as help; small sellers and small towns. P3 patient guide: short phrases, one idea at a time, checks understanding; sellers who were confused before or are new. P4 brief and busy-friendly: one short sentence, value first, callback at once; often-rushed sellers and high call fatigue. P5 respectful problem-solver: acknowledges the problem once, never repeats the old pitch; open grievance or frustration, mostly paid sellers. P6 senior advisor: business-like, mostly English, brief and never pushy; high-turnover owners. The personas are starting points, not limits: scoreboards by seller segment give the top two, the agent selects one and decides every field (voice gender, pace, pitch, language start, language mix, formality, sophistication, warmth, empathy, words per reply, hook, opening) with a reason: seller evidence with cited quotes first, then hierarchy data from earlier calls, otherwise the persona's own value. 15% of calls use the control P0 to measure uplift.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Illustrative sellers (invented for the slide, not real data). The same engine builds a different persona for each seller. Scoreboards by seller segment give the top two personas; the agent selects one and decides every field (voice gender, pace, pitch, language start, language mix, formality, sophistication, warmth, empathy, words per reply, hook, opening) with a cited reason: seller evidence first, then hierarchy data from earlier calls, else the persona's own value. Row 1: a free seller in a small town in a Telugu-speaking region gets the warm local helper in their own language with simple words and the profile-gap hook. Row 2: a paid seller with many buy leads who is always busy gets the brief persona, one short line and a callback offer, with the unused-credits or money-lead hook. Row 3: a high-turnover owner gets the senior advisor, English-led, brief, with the peer-usage hook. Row 4: a seller with an open complaint gets the problem-solver, who acknowledges the problem first and does not pitch. 15% of calls use the control persona P0 so uplift can be measured.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hook is the one reason VANI gives for the meeting; the hook decides what the first sentence is about. Money lead: a live or recent buy lead with its order value, product, quantity and city (never the buyer's name, never 'this order is yours'); used first when one exists. Profile gap: the catalogue is weak, for example products without photo or price; mainly for free sellers. Category demand: buy requirements in the seller's own category, from counts. Unused credits (paid only): credits lapsed or unused; never says the credits come back. Lead quality fix (paid only): many rejected leads; offers to set filters with the executive. Enquiry drop: enquiries fell against last quarter; never names a cause that is not in the data. Peer usage: at least five same-size sellers in the same category bought leads; VANI may name a similar paid seller with city and 'for many years' but never a figure next to a named seller. Resolve grievance: an open complaint or a grievance in a recent call; said first, before any other hook. The agent picks one main hook and a backup, each with cited evidence; eligibility is computed by script from the data. In the old bot experiment the enquiry-count opening beat the 'interest' and 'discovery' openings; only 13 of 73 segment rows are statistically significant, so hook preferences are starting points the learning loop updates.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START of call: the Sarvam voice agent's start tool applies the persona before the first word: voice, pace, pitch, the start language and the opening line; the persona and hook fill one fixed prompt through per-call variables. MID-CALL: a signal tool runs on every seller turn and returns the seller's mode and a directive that overrides the speaking style for that reply only (rushed: one short sentence and a callback; confused: one idea in short phrases; frustrated: brief apology, no pitch; interested: answer briefly and ask for the day and time; declined: keep the call open; bot question: sidestep once, then 'virtual assistant'; opt-out: apologise and end; language switch: reply in the seller's language). Voice, pace and pitch are fixed after the start (platform limit); tone changes through the words. Every change is written to a switch log: turn, utterance, from mode, to mode, cue, change, reason. END: the booking tool records the meeting with the seller's sales handler when a name exists (for a pool: 'our IndiaMART executive'), or a callback; after booking VANI asks 'anything else?' and ends only on the seller's no or goodbye; the call ends early only on an explicit request (stop calling, cut the call, do not call); 'not interested' keeps the line open (the hook again, then one topic per 'no'). VANI never quotes a plan or price. IMPROVE: Claude reviews the call against compliance rules (7 fatal and 13 non-fatal items) and the call-rule checks R1-R6 (pass, fail or unknown per language); results update persona and hook scoreboards by seller segment and per-field value groups; reports show meeting rate by reason type and uplift against the control. Scoreboards are empty at the start; picks are a division-based lean plus a random draw until real calls arrive.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Examples of the live signal tool at work. Every seller turn is read; the tool returns a mode (rushed, frustrated, confused, interested, declined, bot question, opt-out, language switch; question and handler questions as one-turn overlays) and a directive. In scripted test calls every switch type fired on the same turn, including a language switch from Marathi to Hindi to English. A switch log row records: turn, utterance, from mode, to mode, cue, directive id, change made, reason, whether asking for the meeting is allowed, milliseconds. Honest limits: voice, pace and pitch cannot change mid-call (a Sarvam platform limit), tone changes through wording; the instant keyword classifier is a baseline with about 0.60 measured accuracy on a small reviewed set, presented as a measurement not a production figure. Jev (typesafe jev-1.13, a decision model reached through OpenRouter) judges mood with six questions (rushed, frustrated, confused, bot question, interested, language) in one request, about 0.5 s at the median; it was tested in live scripted calls through a relay, and it labels real call turns that score and improve the keyword tool between runs. In the live call the instant keyword tool decides, because the network round trip adds about 0.5 s to a spoken reply; Jev runs on real calls after the call. Handler: with a handler name VANI says the name and books with that person; with a pool it says 'our IndiaMART team handles your account; the executive will introduce themselves when they call' and never a made-up name. 'Nahi chahiye' keeps the call open and restates the hook.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layers decide the seller's mood. Layer 1, the keyword tool, runs inside the Sarvam call on every seller turn in well under a millisecond, so the directive applies on the same turn; its measured accuracy is about 0.60 on a small reviewed set, presented as a measurement. Layer 2, Jev (typesafe jev-1.13, a decision model reached through OpenRouter), answers six yes/no mood questions in one request (rushed, frustrated, confused, bot question, interested, language) with a probability for each; about 0.5 s at the median, a tiny fraction of a cent per turn; 49 of 51 correct on a native-script test set and 10 of 10 on a tricky set; it catches cases the keywords miss, such as an irritated 'I am asking again, tell me the price or I hang up'. Jev labels real call turns, which scores and improves the keyword tool between runs (the gold set), and we tested it in live scripted calls through a relay. In the live call the instant keyword tool decides, because a web call to Jev adds about 0.5 s to a spoken reply; Jev runs on real calls after the call and was tested live through a relay. A hybrid that asks Jev only on unclear turns within a strict time budget is the next step. We also evaluated a Sarvam chat model, a small trained classifier and fast hosted models, and measured their latency before choosing this design.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loop runs between calls, never during one. 1 Call: the persona and hook are applied at the start, the live signal tool adapts every turn, the call is recorded with a switch log. 2 Review: Claude reviews the call against the compliance rubric (7 fatal and 13 non-fatal items) and the call-rule checks R1 to R6 (pass, fail or unknown per language), judges persona fit per dimension and whether the hook landed. 3 Label: Jev labels real seller turns by mood; the labels build a gold set that scores the keyword tool, and missed or wrong switches become proposals for keyword and directive changes; each proposal must not be worse on the gold set and needs a human's approval. 4 Score: the result is credited to the persona arm the agent selected, to each field's value group with its reason type (seller evidence, hierarchy data or the persona's own value), to the start rule that fixed a value, and to the hook. 5 Update: scoreboards by seller segment (all sellers, division, turnover band, order value tier, zone, state, category group) are updated; reports show meeting rate by reason type and by start rule, and uplift of each persona against the control persona P0 (15% of calls). The next call starts from a better persona and hook. Scoreboards start empty today: every pick is a division-based lean plus a random draw until real calls arrive; new persona library versions need a person's approval.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Context builder: offline PS07 and Global Context files, internal APIs (data warehouse, user service, company page) and read-only queries on the buy-lead and catalogue databases write one folder per seller (laptop, VPN). Safe export: names become tokens, a hard PII check refuses any leak, sources are stripped; real names stay on the laptop. Persona agent: Claude Opus 5.5 in an isolated Daytona sandbox; scripts compute traits, states, guards and hook eligibility and propose the top two personas; the agent selects one and decides every field with a checkable reason; a single writer tool, read log, stop gate and validator refuse anything uncited. Compile: the validated persona becomes the Sarvam agent's per-call variables and prompt sections; names are filled in only then, on the laptop. Voice call: the Sarvam voice agent (speech to text, language model, text to speech) with a start tool, a signal tool and a booking tool, one fixed prompt template with per-call variables, and the IndiaMART knowledge base. Review and learning: Claude reviews each call; scoreboards update by seller segment. Compliance: identity rule (never AI, bot or manager; never claims to be human; if pressed, 'IndiaMART's virtual assistant'), verified facts only, no selling on the call, 7 fatal and 13 non-fatal rubric items checked before and after each call; humans approve persona library changes.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meeting arrangement. The right persona and hook per seller to book the executive meeting, with live adaptation. Next: seller enrichment. Catalogue improvement calls (photos, prices, categories) with suggestions drawn from the seller's top categories and similar sellers; a top-category hook; profile completion with the seller on the call. Personalise further, per seller: (1) a personalised objective for the seller persona: the call goal itself is chosen per seller from meeting, enrichment or NPS (net promoter score); (2) a preferred call time per seller, to improve the share of calls that are answered (call scheduling is handled outside the persona today); (3) a preferred or suggested language per seller, from the seller's location, GST state and the languages heard on earlier calls. Platform: learning from real calls, more languages and voices, production telephony at scale (today the phone route reaches only whitelisted test numbers).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Planned scenarios; videos to be added. Call 1: a free seller in a regional-language region: warm local persona, profile-gap hook, language follows the seller. Call 2: a paying seller with buy-lead data: numbers-first persona, credit-usage or money-lead hook; the seller says 'busy', VANI shortens and offers a callback. Call 3: a high-turnover seller: senior persona, English start; the seller asks about the handler, VANI names the executive and books the meeting. Evidence to date: 7 full persona runs on the sandbox (1 more running; about 2 to 3 minutes and $1 to $1.5 each; validation passed twice), about 7 real phone tests and about 16 scripted voice calls where all 21 to 22 per-call variables arrived, 0 fatal review items on the reviewed call, agent response time about 0.8 to 1.6 seconds per turn, languages tested Marathi, Hindi, English and Telugu. Recordings contain real seller details and are shared only with approval.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868392" y="1889185"/>
            <a:ext cx="6357600" cy="776400"/>
          </a:xfrm>
          <a:prstGeom prst="rect">
            <a:avLst/>
          </a:prstGeom>
          <a:noFill/>
          <a:ln>
            <a:noFill/>
          </a:ln>
        </p:spPr>
        <p:txBody>
          <a:bodyPr anchorCtr="0" anchor="b" bIns="45700" lIns="91425" spcFirstLastPara="1" rIns="91425" wrap="square" tIns="45700">
            <a:normAutofit/>
          </a:bodyPr>
          <a:lstStyle>
            <a:lvl1pPr lvl="0" algn="l">
              <a:lnSpc>
                <a:spcPct val="150000"/>
              </a:lnSpc>
              <a:spcBef>
                <a:spcPts val="0"/>
              </a:spcBef>
              <a:spcAft>
                <a:spcPts val="0"/>
              </a:spcAft>
              <a:buClr>
                <a:srgbClr val="002060"/>
              </a:buClr>
              <a:buSzPts val="4400"/>
              <a:buFont typeface="Open Sans"/>
              <a:buNone/>
              <a:defRPr b="1" sz="44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3" name="Google Shape;13;p2"/>
          <p:cNvCxnSpPr/>
          <p:nvPr/>
        </p:nvCxnSpPr>
        <p:spPr>
          <a:xfrm rot="10800000">
            <a:off x="868262" y="2691442"/>
            <a:ext cx="5454900" cy="0"/>
          </a:xfrm>
          <a:prstGeom prst="straightConnector1">
            <a:avLst/>
          </a:prstGeom>
          <a:noFill/>
          <a:ln cap="flat" cmpd="sng" w="19050">
            <a:solidFill>
              <a:srgbClr val="BFBFBF"/>
            </a:solidFill>
            <a:prstDash val="solid"/>
            <a:miter lim="8000"/>
            <a:headEnd len="sm" w="sm" type="none"/>
            <a:tailEnd len="sm" w="sm" type="none"/>
          </a:ln>
        </p:spPr>
      </p:cxnSp>
      <p:sp>
        <p:nvSpPr>
          <p:cNvPr id="14" name="Google Shape;14;p2"/>
          <p:cNvSpPr txBox="1"/>
          <p:nvPr>
            <p:ph idx="1" type="body"/>
          </p:nvPr>
        </p:nvSpPr>
        <p:spPr>
          <a:xfrm>
            <a:off x="868392" y="2821619"/>
            <a:ext cx="6357600" cy="897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800"/>
              <a:buNone/>
              <a:defRPr>
                <a:solidFill>
                  <a:srgbClr val="002060"/>
                </a:solidFil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slide">
  <p:cSld name="thankyou-slid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3"/>
          <p:cNvSpPr/>
          <p:nvPr/>
        </p:nvSpPr>
        <p:spPr>
          <a:xfrm>
            <a:off x="0" y="1317432"/>
            <a:ext cx="12192000" cy="1921800"/>
          </a:xfrm>
          <a:prstGeom prst="rect">
            <a:avLst/>
          </a:prstGeom>
          <a:solidFill>
            <a:srgbClr val="372E83"/>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 name="Google Shape;17;p3"/>
          <p:cNvSpPr txBox="1"/>
          <p:nvPr>
            <p:ph idx="1" type="body"/>
          </p:nvPr>
        </p:nvSpPr>
        <p:spPr>
          <a:xfrm>
            <a:off x="1976582" y="1792535"/>
            <a:ext cx="6999203" cy="1107600"/>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7500"/>
              <a:buNone/>
              <a:defRPr b="1" sz="6500">
                <a:solidFill>
                  <a:schemeClr val="lt1"/>
                </a:solidFill>
                <a:latin typeface="Open Sans"/>
                <a:ea typeface="Open Sans"/>
                <a:cs typeface="Open Sans"/>
                <a:sym typeface="Open Sans"/>
              </a:defRPr>
            </a:lvl1pPr>
            <a:lvl2pPr indent="-228600" lvl="1" marL="914400" algn="l">
              <a:lnSpc>
                <a:spcPct val="90000"/>
              </a:lnSpc>
              <a:spcBef>
                <a:spcPts val="500"/>
              </a:spcBef>
              <a:spcAft>
                <a:spcPts val="0"/>
              </a:spcAft>
              <a:buClr>
                <a:srgbClr val="C00000"/>
              </a:buClr>
              <a:buSzPts val="7200"/>
              <a:buNone/>
              <a:defRPr sz="7200">
                <a:solidFill>
                  <a:srgbClr val="C00000"/>
                </a:solidFill>
              </a:defRPr>
            </a:lvl2pPr>
            <a:lvl3pPr indent="-228600" lvl="2" marL="1371600" algn="l">
              <a:lnSpc>
                <a:spcPct val="90000"/>
              </a:lnSpc>
              <a:spcBef>
                <a:spcPts val="500"/>
              </a:spcBef>
              <a:spcAft>
                <a:spcPts val="0"/>
              </a:spcAft>
              <a:buClr>
                <a:srgbClr val="C00000"/>
              </a:buClr>
              <a:buSzPts val="7200"/>
              <a:buNone/>
              <a:defRPr sz="7200">
                <a:solidFill>
                  <a:srgbClr val="C00000"/>
                </a:solidFill>
              </a:defRPr>
            </a:lvl3pPr>
            <a:lvl4pPr indent="-228600" lvl="3" marL="1828800" algn="l">
              <a:lnSpc>
                <a:spcPct val="90000"/>
              </a:lnSpc>
              <a:spcBef>
                <a:spcPts val="500"/>
              </a:spcBef>
              <a:spcAft>
                <a:spcPts val="0"/>
              </a:spcAft>
              <a:buClr>
                <a:srgbClr val="C00000"/>
              </a:buClr>
              <a:buSzPts val="7200"/>
              <a:buNone/>
              <a:defRPr sz="7200">
                <a:solidFill>
                  <a:srgbClr val="C00000"/>
                </a:solidFill>
              </a:defRPr>
            </a:lvl4pPr>
            <a:lvl5pPr indent="-228600" lvl="4" marL="2286000" algn="l">
              <a:lnSpc>
                <a:spcPct val="90000"/>
              </a:lnSpc>
              <a:spcBef>
                <a:spcPts val="500"/>
              </a:spcBef>
              <a:spcAft>
                <a:spcPts val="0"/>
              </a:spcAft>
              <a:buClr>
                <a:srgbClr val="C00000"/>
              </a:buClr>
              <a:buSzPts val="7200"/>
              <a:buNone/>
              <a:defRPr sz="7200">
                <a:solidFill>
                  <a:srgbClr val="C0000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slide">
  <p:cSld name="blank-slide">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569343" y="661366"/>
            <a:ext cx="8883900" cy="71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3000"/>
              <a:buFont typeface="Open Sans"/>
              <a:buNone/>
              <a:defRPr b="1" sz="30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p:nvPr/>
        </p:nvSpPr>
        <p:spPr>
          <a:xfrm>
            <a:off x="680180" y="1367146"/>
            <a:ext cx="1613100" cy="777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637788" y="568608"/>
            <a:ext cx="8883900" cy="594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3000"/>
              <a:buFont typeface="Open Sans"/>
              <a:buNone/>
              <a:defRPr b="1" sz="30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
          <p:cNvSpPr/>
          <p:nvPr/>
        </p:nvSpPr>
        <p:spPr>
          <a:xfrm>
            <a:off x="791016" y="1291628"/>
            <a:ext cx="1613100" cy="777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 name="Google Shape;24;p5"/>
          <p:cNvSpPr/>
          <p:nvPr>
            <p:ph idx="2" type="pic"/>
          </p:nvPr>
        </p:nvSpPr>
        <p:spPr>
          <a:xfrm>
            <a:off x="569343" y="1630872"/>
            <a:ext cx="4659300" cy="4037100"/>
          </a:xfrm>
          <a:prstGeom prst="rect">
            <a:avLst/>
          </a:prstGeom>
          <a:noFill/>
          <a:ln>
            <a:noFill/>
          </a:ln>
        </p:spPr>
      </p:sp>
      <p:sp>
        <p:nvSpPr>
          <p:cNvPr id="25" name="Google Shape;25;p5"/>
          <p:cNvSpPr txBox="1"/>
          <p:nvPr>
            <p:ph idx="1" type="body"/>
          </p:nvPr>
        </p:nvSpPr>
        <p:spPr>
          <a:xfrm>
            <a:off x="6763708" y="1623326"/>
            <a:ext cx="4356000" cy="594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800"/>
              <a:buNone/>
              <a:defRPr b="1">
                <a:solidFill>
                  <a:srgbClr val="002060"/>
                </a:solidFill>
                <a:latin typeface="Open Sans"/>
                <a:ea typeface="Open Sans"/>
                <a:cs typeface="Open Sans"/>
                <a:sym typeface="Open Sans"/>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5"/>
          <p:cNvSpPr txBox="1"/>
          <p:nvPr>
            <p:ph idx="3" type="body"/>
          </p:nvPr>
        </p:nvSpPr>
        <p:spPr>
          <a:xfrm>
            <a:off x="6797675" y="2544763"/>
            <a:ext cx="4305300" cy="3122700"/>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atin typeface="Open Sans"/>
                <a:ea typeface="Open Sans"/>
                <a:cs typeface="Open Sans"/>
                <a:sym typeface="Open Sans"/>
              </a:defRPr>
            </a:lvl1pPr>
            <a:lvl2pPr indent="-330200" lvl="1" marL="9144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2pPr>
            <a:lvl3pPr indent="-330200" lvl="2" marL="13716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3pPr>
            <a:lvl4pPr indent="-330200" lvl="3" marL="18288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4pPr>
            <a:lvl5pPr indent="-330200" lvl="4" marL="22860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text">
  <p:cSld name="Images and tex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6"/>
          <p:cNvSpPr txBox="1"/>
          <p:nvPr>
            <p:ph type="title"/>
          </p:nvPr>
        </p:nvSpPr>
        <p:spPr>
          <a:xfrm>
            <a:off x="734993" y="563216"/>
            <a:ext cx="8883900" cy="71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3000"/>
              <a:buFont typeface="Open Sans"/>
              <a:buNone/>
              <a:defRPr b="1" sz="30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
          <p:cNvSpPr/>
          <p:nvPr/>
        </p:nvSpPr>
        <p:spPr>
          <a:xfrm>
            <a:off x="837739" y="1309766"/>
            <a:ext cx="1613100" cy="777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 name="Google Shape;30;p6"/>
          <p:cNvSpPr/>
          <p:nvPr>
            <p:ph idx="2" type="pic"/>
          </p:nvPr>
        </p:nvSpPr>
        <p:spPr>
          <a:xfrm>
            <a:off x="6229661" y="1300890"/>
            <a:ext cx="5124600" cy="4883100"/>
          </a:xfrm>
          <a:prstGeom prst="rect">
            <a:avLst/>
          </a:prstGeom>
          <a:noFill/>
          <a:ln>
            <a:noFill/>
          </a:ln>
        </p:spPr>
      </p:sp>
      <p:sp>
        <p:nvSpPr>
          <p:cNvPr id="31" name="Google Shape;31;p6"/>
          <p:cNvSpPr txBox="1"/>
          <p:nvPr>
            <p:ph idx="1" type="body"/>
          </p:nvPr>
        </p:nvSpPr>
        <p:spPr>
          <a:xfrm>
            <a:off x="837739" y="1894140"/>
            <a:ext cx="2114700" cy="3438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032136"/>
              </a:buClr>
              <a:buSzPts val="1950"/>
              <a:buNone/>
              <a:defRPr b="1" sz="1950">
                <a:solidFill>
                  <a:srgbClr val="032136"/>
                </a:solidFill>
                <a:latin typeface="Open Sans"/>
                <a:ea typeface="Open Sans"/>
                <a:cs typeface="Open Sans"/>
                <a:sym typeface="Open Sans"/>
              </a:defRPr>
            </a:lvl1pPr>
            <a:lvl2pPr indent="-228600" lvl="1" marL="914400" algn="l">
              <a:lnSpc>
                <a:spcPct val="90000"/>
              </a:lnSpc>
              <a:spcBef>
                <a:spcPts val="500"/>
              </a:spcBef>
              <a:spcAft>
                <a:spcPts val="0"/>
              </a:spcAft>
              <a:buClr>
                <a:srgbClr val="032136"/>
              </a:buClr>
              <a:buSzPts val="1950"/>
              <a:buNone/>
              <a:defRPr b="1" sz="1950">
                <a:solidFill>
                  <a:srgbClr val="032136"/>
                </a:solidFill>
                <a:latin typeface="Open Sans"/>
                <a:ea typeface="Open Sans"/>
                <a:cs typeface="Open Sans"/>
                <a:sym typeface="Open Sans"/>
              </a:defRPr>
            </a:lvl2pPr>
            <a:lvl3pPr indent="-228600" lvl="2" marL="1371600" algn="l">
              <a:lnSpc>
                <a:spcPct val="90000"/>
              </a:lnSpc>
              <a:spcBef>
                <a:spcPts val="500"/>
              </a:spcBef>
              <a:spcAft>
                <a:spcPts val="0"/>
              </a:spcAft>
              <a:buClr>
                <a:srgbClr val="032136"/>
              </a:buClr>
              <a:buSzPts val="1950"/>
              <a:buNone/>
              <a:defRPr b="1" sz="1950">
                <a:solidFill>
                  <a:srgbClr val="032136"/>
                </a:solidFill>
                <a:latin typeface="Open Sans"/>
                <a:ea typeface="Open Sans"/>
                <a:cs typeface="Open Sans"/>
                <a:sym typeface="Open Sans"/>
              </a:defRPr>
            </a:lvl3pPr>
            <a:lvl4pPr indent="-228600" lvl="3" marL="1828800" algn="l">
              <a:lnSpc>
                <a:spcPct val="90000"/>
              </a:lnSpc>
              <a:spcBef>
                <a:spcPts val="500"/>
              </a:spcBef>
              <a:spcAft>
                <a:spcPts val="0"/>
              </a:spcAft>
              <a:buClr>
                <a:srgbClr val="032136"/>
              </a:buClr>
              <a:buSzPts val="1950"/>
              <a:buNone/>
              <a:defRPr b="1" sz="1950">
                <a:solidFill>
                  <a:srgbClr val="032136"/>
                </a:solidFill>
                <a:latin typeface="Open Sans"/>
                <a:ea typeface="Open Sans"/>
                <a:cs typeface="Open Sans"/>
                <a:sym typeface="Open Sans"/>
              </a:defRPr>
            </a:lvl4pPr>
            <a:lvl5pPr indent="-228600" lvl="4" marL="2286000" algn="l">
              <a:lnSpc>
                <a:spcPct val="90000"/>
              </a:lnSpc>
              <a:spcBef>
                <a:spcPts val="500"/>
              </a:spcBef>
              <a:spcAft>
                <a:spcPts val="0"/>
              </a:spcAft>
              <a:buClr>
                <a:srgbClr val="032136"/>
              </a:buClr>
              <a:buSzPts val="1950"/>
              <a:buNone/>
              <a:defRPr b="1" sz="1950">
                <a:solidFill>
                  <a:srgbClr val="032136"/>
                </a:solidFill>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
          <p:cNvSpPr txBox="1"/>
          <p:nvPr>
            <p:ph idx="3" type="body"/>
          </p:nvPr>
        </p:nvSpPr>
        <p:spPr>
          <a:xfrm>
            <a:off x="624161" y="2349090"/>
            <a:ext cx="5605500" cy="2786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72235"/>
              </a:buClr>
              <a:buSzPts val="1500"/>
              <a:buNone/>
              <a:defRPr sz="1500">
                <a:solidFill>
                  <a:srgbClr val="072235"/>
                </a:solidFill>
                <a:latin typeface="Open Sans"/>
                <a:ea typeface="Open Sans"/>
                <a:cs typeface="Open Sans"/>
                <a:sym typeface="Open Sans"/>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text-slide">
  <p:cSld name="Data-text-slide">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7"/>
          <p:cNvSpPr txBox="1"/>
          <p:nvPr>
            <p:ph type="title"/>
          </p:nvPr>
        </p:nvSpPr>
        <p:spPr>
          <a:xfrm>
            <a:off x="480770" y="585136"/>
            <a:ext cx="8883900" cy="71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3000"/>
              <a:buFont typeface="Open Sans"/>
              <a:buNone/>
              <a:defRPr b="1" sz="30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p:nvPr/>
        </p:nvSpPr>
        <p:spPr>
          <a:xfrm>
            <a:off x="626479" y="1298236"/>
            <a:ext cx="1613100" cy="777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 name="Google Shape;36;p7"/>
          <p:cNvSpPr/>
          <p:nvPr>
            <p:ph idx="2" type="chart"/>
          </p:nvPr>
        </p:nvSpPr>
        <p:spPr>
          <a:xfrm>
            <a:off x="5805968" y="1656332"/>
            <a:ext cx="5167200" cy="3984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 type="body"/>
          </p:nvPr>
        </p:nvSpPr>
        <p:spPr>
          <a:xfrm>
            <a:off x="626479" y="1748695"/>
            <a:ext cx="3665400" cy="1233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221F1F"/>
              </a:buClr>
              <a:buSzPts val="1600"/>
              <a:buNone/>
              <a:defRPr sz="1600">
                <a:solidFill>
                  <a:srgbClr val="221F1F"/>
                </a:solidFill>
                <a:latin typeface="Open Sans"/>
                <a:ea typeface="Open Sans"/>
                <a:cs typeface="Open Sans"/>
                <a:sym typeface="Open Sans"/>
              </a:defRPr>
            </a:lvl1pPr>
            <a:lvl2pPr indent="-228600" lvl="1" marL="914400" algn="l">
              <a:lnSpc>
                <a:spcPct val="90000"/>
              </a:lnSpc>
              <a:spcBef>
                <a:spcPts val="500"/>
              </a:spcBef>
              <a:spcAft>
                <a:spcPts val="0"/>
              </a:spcAft>
              <a:buClr>
                <a:srgbClr val="221F1F"/>
              </a:buClr>
              <a:buSzPts val="1000"/>
              <a:buNone/>
              <a:defRPr sz="1000">
                <a:solidFill>
                  <a:srgbClr val="221F1F"/>
                </a:solidFill>
                <a:latin typeface="Open Sans"/>
                <a:ea typeface="Open Sans"/>
                <a:cs typeface="Open Sans"/>
                <a:sym typeface="Open Sans"/>
              </a:defRPr>
            </a:lvl2pPr>
            <a:lvl3pPr indent="-228600" lvl="2" marL="1371600" algn="l">
              <a:lnSpc>
                <a:spcPct val="90000"/>
              </a:lnSpc>
              <a:spcBef>
                <a:spcPts val="500"/>
              </a:spcBef>
              <a:spcAft>
                <a:spcPts val="0"/>
              </a:spcAft>
              <a:buClr>
                <a:srgbClr val="221F1F"/>
              </a:buClr>
              <a:buSzPts val="1000"/>
              <a:buNone/>
              <a:defRPr sz="1000">
                <a:solidFill>
                  <a:srgbClr val="221F1F"/>
                </a:solidFill>
                <a:latin typeface="Open Sans"/>
                <a:ea typeface="Open Sans"/>
                <a:cs typeface="Open Sans"/>
                <a:sym typeface="Open Sans"/>
              </a:defRPr>
            </a:lvl3pPr>
            <a:lvl4pPr indent="-228600" lvl="3" marL="1828800" algn="l">
              <a:lnSpc>
                <a:spcPct val="90000"/>
              </a:lnSpc>
              <a:spcBef>
                <a:spcPts val="500"/>
              </a:spcBef>
              <a:spcAft>
                <a:spcPts val="0"/>
              </a:spcAft>
              <a:buClr>
                <a:srgbClr val="221F1F"/>
              </a:buClr>
              <a:buSzPts val="1000"/>
              <a:buNone/>
              <a:defRPr sz="1000">
                <a:solidFill>
                  <a:srgbClr val="221F1F"/>
                </a:solidFill>
                <a:latin typeface="Open Sans"/>
                <a:ea typeface="Open Sans"/>
                <a:cs typeface="Open Sans"/>
                <a:sym typeface="Open Sans"/>
              </a:defRPr>
            </a:lvl4pPr>
            <a:lvl5pPr indent="-228600" lvl="4" marL="2286000" algn="l">
              <a:lnSpc>
                <a:spcPct val="90000"/>
              </a:lnSpc>
              <a:spcBef>
                <a:spcPts val="500"/>
              </a:spcBef>
              <a:spcAft>
                <a:spcPts val="0"/>
              </a:spcAft>
              <a:buClr>
                <a:srgbClr val="221F1F"/>
              </a:buClr>
              <a:buSzPts val="1000"/>
              <a:buNone/>
              <a:defRPr sz="1000">
                <a:solidFill>
                  <a:srgbClr val="221F1F"/>
                </a:solidFill>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slide-2">
  <p:cSld name="data-slide-2">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686162" y="566105"/>
            <a:ext cx="8883900" cy="71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3000"/>
              <a:buFont typeface="Open Sans"/>
              <a:buNone/>
              <a:defRPr b="1" sz="30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
          <p:cNvSpPr/>
          <p:nvPr/>
        </p:nvSpPr>
        <p:spPr>
          <a:xfrm>
            <a:off x="772543" y="1359533"/>
            <a:ext cx="1613100" cy="777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 name="Google Shape;41;p8"/>
          <p:cNvSpPr txBox="1"/>
          <p:nvPr>
            <p:ph idx="1" type="body"/>
          </p:nvPr>
        </p:nvSpPr>
        <p:spPr>
          <a:xfrm>
            <a:off x="702212" y="1736384"/>
            <a:ext cx="4425900" cy="4461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002060"/>
              </a:buClr>
              <a:buSzPts val="1800"/>
              <a:buNone/>
              <a:defRPr sz="1800">
                <a:solidFill>
                  <a:srgbClr val="002060"/>
                </a:solidFill>
                <a:latin typeface="Open Sans"/>
                <a:ea typeface="Open Sans"/>
                <a:cs typeface="Open Sans"/>
                <a:sym typeface="Open Sans"/>
              </a:defRPr>
            </a:lvl1pPr>
            <a:lvl2pPr indent="-228600" lvl="1" marL="914400" algn="l">
              <a:lnSpc>
                <a:spcPct val="90000"/>
              </a:lnSpc>
              <a:spcBef>
                <a:spcPts val="500"/>
              </a:spcBef>
              <a:spcAft>
                <a:spcPts val="0"/>
              </a:spcAft>
              <a:buClr>
                <a:srgbClr val="002060"/>
              </a:buClr>
              <a:buSzPts val="1800"/>
              <a:buNone/>
              <a:defRPr sz="1800">
                <a:solidFill>
                  <a:srgbClr val="002060"/>
                </a:solidFill>
                <a:latin typeface="Open Sans"/>
                <a:ea typeface="Open Sans"/>
                <a:cs typeface="Open Sans"/>
                <a:sym typeface="Open Sans"/>
              </a:defRPr>
            </a:lvl2pPr>
            <a:lvl3pPr indent="-228600" lvl="2" marL="1371600" algn="l">
              <a:lnSpc>
                <a:spcPct val="90000"/>
              </a:lnSpc>
              <a:spcBef>
                <a:spcPts val="500"/>
              </a:spcBef>
              <a:spcAft>
                <a:spcPts val="0"/>
              </a:spcAft>
              <a:buClr>
                <a:srgbClr val="002060"/>
              </a:buClr>
              <a:buSzPts val="1800"/>
              <a:buNone/>
              <a:defRPr sz="1800">
                <a:solidFill>
                  <a:srgbClr val="002060"/>
                </a:solidFill>
                <a:latin typeface="Open Sans"/>
                <a:ea typeface="Open Sans"/>
                <a:cs typeface="Open Sans"/>
                <a:sym typeface="Open Sans"/>
              </a:defRPr>
            </a:lvl3pPr>
            <a:lvl4pPr indent="-228600" lvl="3" marL="1828800" algn="l">
              <a:lnSpc>
                <a:spcPct val="90000"/>
              </a:lnSpc>
              <a:spcBef>
                <a:spcPts val="500"/>
              </a:spcBef>
              <a:spcAft>
                <a:spcPts val="0"/>
              </a:spcAft>
              <a:buClr>
                <a:srgbClr val="002060"/>
              </a:buClr>
              <a:buSzPts val="1800"/>
              <a:buNone/>
              <a:defRPr sz="1800">
                <a:solidFill>
                  <a:srgbClr val="002060"/>
                </a:solidFill>
                <a:latin typeface="Open Sans"/>
                <a:ea typeface="Open Sans"/>
                <a:cs typeface="Open Sans"/>
                <a:sym typeface="Open Sans"/>
              </a:defRPr>
            </a:lvl4pPr>
            <a:lvl5pPr indent="-228600" lvl="4" marL="2286000" algn="l">
              <a:lnSpc>
                <a:spcPct val="90000"/>
              </a:lnSpc>
              <a:spcBef>
                <a:spcPts val="500"/>
              </a:spcBef>
              <a:spcAft>
                <a:spcPts val="0"/>
              </a:spcAft>
              <a:buClr>
                <a:srgbClr val="002060"/>
              </a:buClr>
              <a:buSzPts val="1800"/>
              <a:buNone/>
              <a:defRPr sz="1800">
                <a:solidFill>
                  <a:srgbClr val="002060"/>
                </a:solidFill>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
          <p:cNvSpPr txBox="1"/>
          <p:nvPr>
            <p:ph idx="2" type="body"/>
          </p:nvPr>
        </p:nvSpPr>
        <p:spPr>
          <a:xfrm>
            <a:off x="702212" y="2542702"/>
            <a:ext cx="4425900" cy="10437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rgbClr val="221F1F"/>
              </a:buClr>
              <a:buSzPts val="1000"/>
              <a:buNone/>
              <a:defRPr sz="1000">
                <a:solidFill>
                  <a:srgbClr val="221F1F"/>
                </a:solidFill>
                <a:latin typeface="Open Sans"/>
                <a:ea typeface="Open Sans"/>
                <a:cs typeface="Open Sans"/>
                <a:sym typeface="Open Sans"/>
              </a:defRPr>
            </a:lvl1pPr>
            <a:lvl2pPr indent="-228600" lvl="1" marL="914400" algn="l">
              <a:lnSpc>
                <a:spcPct val="150000"/>
              </a:lnSpc>
              <a:spcBef>
                <a:spcPts val="0"/>
              </a:spcBef>
              <a:spcAft>
                <a:spcPts val="0"/>
              </a:spcAft>
              <a:buClr>
                <a:srgbClr val="221F1F"/>
              </a:buClr>
              <a:buSzPts val="1000"/>
              <a:buNone/>
              <a:defRPr sz="1000">
                <a:solidFill>
                  <a:srgbClr val="221F1F"/>
                </a:solidFill>
                <a:latin typeface="Open Sans"/>
                <a:ea typeface="Open Sans"/>
                <a:cs typeface="Open Sans"/>
                <a:sym typeface="Open Sans"/>
              </a:defRPr>
            </a:lvl2pPr>
            <a:lvl3pPr indent="-228600" lvl="2" marL="1371600" algn="l">
              <a:lnSpc>
                <a:spcPct val="150000"/>
              </a:lnSpc>
              <a:spcBef>
                <a:spcPts val="0"/>
              </a:spcBef>
              <a:spcAft>
                <a:spcPts val="0"/>
              </a:spcAft>
              <a:buClr>
                <a:srgbClr val="221F1F"/>
              </a:buClr>
              <a:buSzPts val="1000"/>
              <a:buNone/>
              <a:defRPr sz="1000">
                <a:solidFill>
                  <a:srgbClr val="221F1F"/>
                </a:solidFill>
                <a:latin typeface="Open Sans"/>
                <a:ea typeface="Open Sans"/>
                <a:cs typeface="Open Sans"/>
                <a:sym typeface="Open Sans"/>
              </a:defRPr>
            </a:lvl3pPr>
            <a:lvl4pPr indent="-228600" lvl="3" marL="1828800" algn="l">
              <a:lnSpc>
                <a:spcPct val="150000"/>
              </a:lnSpc>
              <a:spcBef>
                <a:spcPts val="0"/>
              </a:spcBef>
              <a:spcAft>
                <a:spcPts val="0"/>
              </a:spcAft>
              <a:buClr>
                <a:srgbClr val="221F1F"/>
              </a:buClr>
              <a:buSzPts val="1000"/>
              <a:buNone/>
              <a:defRPr sz="1000">
                <a:solidFill>
                  <a:srgbClr val="221F1F"/>
                </a:solidFill>
                <a:latin typeface="Open Sans"/>
                <a:ea typeface="Open Sans"/>
                <a:cs typeface="Open Sans"/>
                <a:sym typeface="Open Sans"/>
              </a:defRPr>
            </a:lvl4pPr>
            <a:lvl5pPr indent="-228600" lvl="4" marL="2286000" algn="l">
              <a:lnSpc>
                <a:spcPct val="150000"/>
              </a:lnSpc>
              <a:spcBef>
                <a:spcPts val="0"/>
              </a:spcBef>
              <a:spcAft>
                <a:spcPts val="0"/>
              </a:spcAft>
              <a:buClr>
                <a:srgbClr val="221F1F"/>
              </a:buClr>
              <a:buSzPts val="1000"/>
              <a:buNone/>
              <a:defRPr sz="1000">
                <a:solidFill>
                  <a:srgbClr val="221F1F"/>
                </a:solidFill>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8"/>
          <p:cNvSpPr/>
          <p:nvPr>
            <p:ph idx="3" type="chart"/>
          </p:nvPr>
        </p:nvSpPr>
        <p:spPr>
          <a:xfrm>
            <a:off x="5752234" y="1664002"/>
            <a:ext cx="5616600" cy="38448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10"/>
          <p:cNvSpPr txBox="1"/>
          <p:nvPr>
            <p:ph type="title"/>
          </p:nvPr>
        </p:nvSpPr>
        <p:spPr>
          <a:xfrm>
            <a:off x="569343" y="568626"/>
            <a:ext cx="8883770" cy="71317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3000"/>
              <a:buFont typeface="Open Sans"/>
              <a:buNone/>
              <a:defRPr b="1" sz="3000">
                <a:solidFill>
                  <a:srgbClr val="002060"/>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0"/>
          <p:cNvSpPr/>
          <p:nvPr/>
        </p:nvSpPr>
        <p:spPr>
          <a:xfrm>
            <a:off x="569343" y="1281802"/>
            <a:ext cx="1613140" cy="7763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 name="Google Shape;53;p10"/>
          <p:cNvSpPr/>
          <p:nvPr>
            <p:ph idx="2" type="pic"/>
          </p:nvPr>
        </p:nvSpPr>
        <p:spPr>
          <a:xfrm>
            <a:off x="569343" y="1630872"/>
            <a:ext cx="4659312" cy="4037013"/>
          </a:xfrm>
          <a:prstGeom prst="rect">
            <a:avLst/>
          </a:prstGeom>
          <a:noFill/>
          <a:ln>
            <a:noFill/>
          </a:ln>
        </p:spPr>
      </p:sp>
      <p:sp>
        <p:nvSpPr>
          <p:cNvPr id="54" name="Google Shape;54;p10"/>
          <p:cNvSpPr txBox="1"/>
          <p:nvPr>
            <p:ph idx="1" type="body"/>
          </p:nvPr>
        </p:nvSpPr>
        <p:spPr>
          <a:xfrm>
            <a:off x="6763708" y="1623326"/>
            <a:ext cx="4356100" cy="59414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800"/>
              <a:buNone/>
              <a:defRPr b="1">
                <a:solidFill>
                  <a:srgbClr val="002060"/>
                </a:solidFill>
                <a:latin typeface="Open Sans"/>
                <a:ea typeface="Open Sans"/>
                <a:cs typeface="Open Sans"/>
                <a:sym typeface="Open Sans"/>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0"/>
          <p:cNvSpPr txBox="1"/>
          <p:nvPr>
            <p:ph idx="3" type="body"/>
          </p:nvPr>
        </p:nvSpPr>
        <p:spPr>
          <a:xfrm>
            <a:off x="6797675" y="2544763"/>
            <a:ext cx="4305300" cy="3122612"/>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Char char="•"/>
              <a:defRPr sz="1600">
                <a:latin typeface="Open Sans"/>
                <a:ea typeface="Open Sans"/>
                <a:cs typeface="Open Sans"/>
                <a:sym typeface="Open Sans"/>
              </a:defRPr>
            </a:lvl1pPr>
            <a:lvl2pPr indent="-330200" lvl="1" marL="9144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2pPr>
            <a:lvl3pPr indent="-330200" lvl="2" marL="13716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3pPr>
            <a:lvl4pPr indent="-330200" lvl="3" marL="18288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4pPr>
            <a:lvl5pPr indent="-330200" lvl="4" marL="2286000" algn="l">
              <a:lnSpc>
                <a:spcPct val="90000"/>
              </a:lnSpc>
              <a:spcBef>
                <a:spcPts val="500"/>
              </a:spcBef>
              <a:spcAft>
                <a:spcPts val="0"/>
              </a:spcAft>
              <a:buClr>
                <a:schemeClr val="dk1"/>
              </a:buClr>
              <a:buSzPts val="1600"/>
              <a:buChar char="•"/>
              <a:defRPr sz="1600">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 name="Google Shape;4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1"/>
          <p:cNvSpPr txBox="1"/>
          <p:nvPr>
            <p:ph type="ctrTitle"/>
          </p:nvPr>
        </p:nvSpPr>
        <p:spPr>
          <a:xfrm>
            <a:off x="868392" y="1889185"/>
            <a:ext cx="6357600" cy="776400"/>
          </a:xfrm>
          <a:prstGeom prst="rect">
            <a:avLst/>
          </a:prstGeom>
          <a:noFill/>
          <a:ln>
            <a:noFill/>
          </a:ln>
        </p:spPr>
        <p:txBody>
          <a:bodyPr anchorCtr="0" anchor="b" bIns="45700" lIns="91425" spcFirstLastPara="1" rIns="91425" wrap="square" tIns="45700">
            <a:normAutofit fontScale="90000"/>
          </a:bodyPr>
          <a:lstStyle/>
          <a:p>
            <a:r>
              <a:t>Persona Design</a:t>
            </a:r>
          </a:p>
        </p:txBody>
      </p:sp>
      <p:sp>
        <p:nvSpPr>
          <p:cNvPr id="61" name="Google Shape;61;p11"/>
          <p:cNvSpPr txBox="1"/>
          <p:nvPr/>
        </p:nvSpPr>
        <p:spPr>
          <a:xfrm flipH="1">
            <a:off x="868475" y="5063650"/>
            <a:ext cx="7315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600"/>
              <a:buFont typeface="Arial"/>
              <a:buNone/>
            </a:pPr>
            <a:r>
              <a:rPr b="1" i="0" lang="en-IN" sz="1800" u="none" cap="none" strike="noStrike">
                <a:solidFill>
                  <a:srgbClr val="002060"/>
                </a:solidFill>
                <a:latin typeface="Open Sans"/>
                <a:ea typeface="Open Sans"/>
                <a:cs typeface="Open Sans"/>
                <a:sym typeface="Open Sans"/>
              </a:rPr>
              <a:t>Problem 4  |  Voice AI Hackathon 2.0  |  October 2026</a:t>
            </a:r>
            <a:endParaRPr b="1" i="0" sz="2600" u="none" cap="none" strike="noStrike">
              <a:solidFill>
                <a:srgbClr val="002060"/>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idx="1" type="body"/>
          </p:nvPr>
        </p:nvSpPr>
        <p:spPr>
          <a:xfrm>
            <a:off x="2086050" y="1800475"/>
            <a:ext cx="8019900" cy="11076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7500"/>
              <a:buNone/>
            </a:pPr>
            <a:r>
              <a:rPr lang="en-IN"/>
              <a:t>Thank You!</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TextBox 2"/>
          <p:cNvSpPr txBox="1"/>
          <p:nvPr/>
        </p:nvSpPr>
        <p:spPr>
          <a:xfrm>
            <a:off x="566928" y="1371600"/>
            <a:ext cx="5486400" cy="320040"/>
          </a:xfrm>
          <a:prstGeom prst="rect">
            <a:avLst/>
          </a:prstGeom>
          <a:noFill/>
        </p:spPr>
        <p:txBody>
          <a:bodyPr wrap="square">
            <a:spAutoFit/>
          </a:bodyPr>
          <a:lstStyle/>
          <a:p>
            <a:pPr algn="l">
              <a:spcAft>
                <a:spcPts val="0"/>
              </a:spcAft>
            </a:pPr>
            <a:r>
              <a:rPr sz="1300" b="1">
                <a:solidFill>
                  <a:srgbClr val="C00000"/>
                </a:solidFill>
                <a:latin typeface="Arial"/>
              </a:rPr>
              <a:t>Problem 4 of 6  |  Persona Design</a:t>
            </a:r>
          </a:p>
        </p:txBody>
      </p:sp>
      <p:sp>
        <p:nvSpPr>
          <p:cNvPr id="4" name="Rounded Rectangle 3"/>
          <p:cNvSpPr/>
          <p:nvPr/>
        </p:nvSpPr>
        <p:spPr>
          <a:xfrm>
            <a:off x="566928" y="1920240"/>
            <a:ext cx="3017520" cy="173736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400" b="1">
                <a:solidFill>
                  <a:srgbClr val="FFFFFF"/>
                </a:solidFill>
                <a:latin typeface="Arial"/>
              </a:rPr>
              <a:t>CONTEXT</a:t>
            </a:r>
          </a:p>
          <a:p>
            <a:pPr algn="ctr">
              <a:spcAft>
                <a:spcPts val="0"/>
              </a:spcAft>
            </a:pPr>
            <a:r>
              <a:rPr sz="1100" b="0">
                <a:solidFill>
                  <a:srgbClr val="FFFFFF"/>
                </a:solidFill>
                <a:latin typeface="Arial"/>
              </a:rPr>
              <a:t>Rich seller data exists: profile, buy leads, past calls</a:t>
            </a:r>
          </a:p>
        </p:txBody>
      </p:sp>
      <p:sp>
        <p:nvSpPr>
          <p:cNvPr id="5" name="Right Arrow 4"/>
          <p:cNvSpPr/>
          <p:nvPr/>
        </p:nvSpPr>
        <p:spPr>
          <a:xfrm>
            <a:off x="3657600" y="2606040"/>
            <a:ext cx="457200" cy="41148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60520" y="1920240"/>
            <a:ext cx="3017520" cy="173736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400" b="1">
                <a:solidFill>
                  <a:srgbClr val="FFFFFF"/>
                </a:solidFill>
                <a:latin typeface="Arial"/>
              </a:rPr>
              <a:t>GAP</a:t>
            </a:r>
          </a:p>
          <a:p>
            <a:pPr algn="ctr">
              <a:spcAft>
                <a:spcPts val="0"/>
              </a:spcAft>
            </a:pPr>
            <a:r>
              <a:rPr sz="1100" b="0">
                <a:solidFill>
                  <a:srgbClr val="FFFFFF"/>
                </a:solidFill>
                <a:latin typeface="Arial"/>
              </a:rPr>
              <a:t>One voice, one script for every seller</a:t>
            </a:r>
          </a:p>
        </p:txBody>
      </p:sp>
      <p:sp>
        <p:nvSpPr>
          <p:cNvPr id="7" name="Right Arrow 6"/>
          <p:cNvSpPr/>
          <p:nvPr/>
        </p:nvSpPr>
        <p:spPr>
          <a:xfrm>
            <a:off x="7251192" y="2606040"/>
            <a:ext cx="457200" cy="41148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54112" y="1920240"/>
            <a:ext cx="3840480" cy="173736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400" b="1">
                <a:solidFill>
                  <a:srgbClr val="FFFFFF"/>
                </a:solidFill>
                <a:latin typeface="Arial"/>
              </a:rPr>
              <a:t>OBJECTIVE</a:t>
            </a:r>
          </a:p>
          <a:p>
            <a:pPr algn="ctr">
              <a:spcAft>
                <a:spcPts val="0"/>
              </a:spcAft>
            </a:pPr>
            <a:r>
              <a:rPr sz="1100" b="0">
                <a:solidFill>
                  <a:srgbClr val="FFFFFF"/>
                </a:solidFill>
                <a:latin typeface="Arial"/>
              </a:rPr>
              <a:t>A meeting with an IndiaMART executive</a:t>
            </a:r>
          </a:p>
        </p:txBody>
      </p:sp>
      <p:sp>
        <p:nvSpPr>
          <p:cNvPr id="9" name="Rounded Rectangle 8"/>
          <p:cNvSpPr/>
          <p:nvPr/>
        </p:nvSpPr>
        <p:spPr>
          <a:xfrm>
            <a:off x="2377440" y="3977639"/>
            <a:ext cx="7406640" cy="640080"/>
          </a:xfrm>
          <a:prstGeom prst="roundRect">
            <a:avLst>
              <a:gd name="adj" fmla="val 40000"/>
            </a:avLst>
          </a:prstGeom>
          <a:solidFill>
            <a:srgbClr val="EEF2F8"/>
          </a:solidFill>
          <a:ln w="12700">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500" b="1">
                <a:solidFill>
                  <a:srgbClr val="5B3E96"/>
                </a:solidFill>
                <a:latin typeface="Arial"/>
              </a:rPr>
              <a:t>The persona is the bridge: built per seller, adapted live</a:t>
            </a:r>
          </a:p>
        </p:txBody>
      </p:sp>
      <p:sp>
        <p:nvSpPr>
          <p:cNvPr id="10" name="TextBox 9"/>
          <p:cNvSpPr txBox="1"/>
          <p:nvPr/>
        </p:nvSpPr>
        <p:spPr>
          <a:xfrm>
            <a:off x="566928" y="4754880"/>
            <a:ext cx="11064240" cy="822960"/>
          </a:xfrm>
          <a:prstGeom prst="rect">
            <a:avLst/>
          </a:prstGeom>
          <a:noFill/>
        </p:spPr>
        <p:txBody>
          <a:bodyPr wrap="square">
            <a:spAutoFit/>
          </a:bodyPr>
          <a:lstStyle/>
          <a:p>
            <a:pPr algn="ctr">
              <a:spcAft>
                <a:spcPts val="0"/>
              </a:spcAft>
            </a:pPr>
            <a:r>
              <a:rPr sz="4400" b="1">
                <a:solidFill>
                  <a:srgbClr val="C00000"/>
                </a:solidFill>
                <a:latin typeface="Arial"/>
              </a:rPr>
              <a:t>11.5%</a:t>
            </a:r>
          </a:p>
        </p:txBody>
      </p:sp>
      <p:sp>
        <p:nvSpPr>
          <p:cNvPr id="11" name="TextBox 10"/>
          <p:cNvSpPr txBox="1"/>
          <p:nvPr/>
        </p:nvSpPr>
        <p:spPr>
          <a:xfrm>
            <a:off x="566928" y="5532120"/>
            <a:ext cx="11064240" cy="548640"/>
          </a:xfrm>
          <a:prstGeom prst="rect">
            <a:avLst/>
          </a:prstGeom>
          <a:noFill/>
        </p:spPr>
        <p:txBody>
          <a:bodyPr wrap="square">
            <a:spAutoFit/>
          </a:bodyPr>
          <a:lstStyle/>
          <a:p>
            <a:pPr algn="ctr">
              <a:spcAft>
                <a:spcPts val="0"/>
              </a:spcAft>
            </a:pPr>
            <a:r>
              <a:rPr sz="1300" b="0">
                <a:solidFill>
                  <a:srgbClr val="595959"/>
                </a:solidFill>
                <a:latin typeface="Arial"/>
              </a:rPr>
              <a:t>of 269,455 answered calls end in a meeting today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Script vs A Persona Per Seller</a:t>
            </a:r>
          </a:p>
        </p:txBody>
      </p:sp>
      <p:sp>
        <p:nvSpPr>
          <p:cNvPr id="3" name="TextBox 2"/>
          <p:cNvSpPr txBox="1"/>
          <p:nvPr/>
        </p:nvSpPr>
        <p:spPr>
          <a:xfrm>
            <a:off x="566928" y="1371600"/>
            <a:ext cx="5303520" cy="365760"/>
          </a:xfrm>
          <a:prstGeom prst="rect">
            <a:avLst/>
          </a:prstGeom>
          <a:noFill/>
        </p:spPr>
        <p:txBody>
          <a:bodyPr wrap="square">
            <a:spAutoFit/>
          </a:bodyPr>
          <a:lstStyle/>
          <a:p>
            <a:pPr algn="l">
              <a:spcAft>
                <a:spcPts val="0"/>
              </a:spcAft>
            </a:pPr>
            <a:r>
              <a:rPr sz="1600" b="1">
                <a:solidFill>
                  <a:srgbClr val="595959"/>
                </a:solidFill>
                <a:latin typeface="Arial"/>
              </a:rPr>
              <a:t>Today</a:t>
            </a:r>
          </a:p>
        </p:txBody>
      </p:sp>
      <p:sp>
        <p:nvSpPr>
          <p:cNvPr id="4" name="Rounded Rectangle 3"/>
          <p:cNvSpPr/>
          <p:nvPr/>
        </p:nvSpPr>
        <p:spPr>
          <a:xfrm>
            <a:off x="2103120" y="1920240"/>
            <a:ext cx="2011680" cy="822960"/>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400" b="1">
                <a:solidFill>
                  <a:srgbClr val="FFFFFF"/>
                </a:solidFill>
                <a:latin typeface="Arial"/>
              </a:rPr>
              <a:t>ONE SCRIPT</a:t>
            </a:r>
          </a:p>
        </p:txBody>
      </p:sp>
      <p:sp>
        <p:nvSpPr>
          <p:cNvPr id="5" name="Oval 4"/>
          <p:cNvSpPr/>
          <p:nvPr/>
        </p:nvSpPr>
        <p:spPr>
          <a:xfrm>
            <a:off x="640080" y="3657600"/>
            <a:ext cx="566928" cy="566928"/>
          </a:xfrm>
          <a:prstGeom prst="ellipse">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6" name="Down Arrow 5"/>
          <p:cNvSpPr/>
          <p:nvPr/>
        </p:nvSpPr>
        <p:spPr>
          <a:xfrm>
            <a:off x="804672" y="3108960"/>
            <a:ext cx="237744" cy="457200"/>
          </a:xfrm>
          <a:prstGeom prst="down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53312" y="3657600"/>
            <a:ext cx="566928" cy="566928"/>
          </a:xfrm>
          <a:prstGeom prst="ellipse">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8" name="Down Arrow 7"/>
          <p:cNvSpPr/>
          <p:nvPr/>
        </p:nvSpPr>
        <p:spPr>
          <a:xfrm>
            <a:off x="1517904" y="3108960"/>
            <a:ext cx="237744" cy="457200"/>
          </a:xfrm>
          <a:prstGeom prst="down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66543" y="3657600"/>
            <a:ext cx="566928" cy="566928"/>
          </a:xfrm>
          <a:prstGeom prst="ellipse">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10" name="Down Arrow 9"/>
          <p:cNvSpPr/>
          <p:nvPr/>
        </p:nvSpPr>
        <p:spPr>
          <a:xfrm>
            <a:off x="2231136" y="3108960"/>
            <a:ext cx="237744" cy="457200"/>
          </a:xfrm>
          <a:prstGeom prst="down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779776" y="3657600"/>
            <a:ext cx="566928" cy="566928"/>
          </a:xfrm>
          <a:prstGeom prst="ellipse">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12" name="Down Arrow 11"/>
          <p:cNvSpPr/>
          <p:nvPr/>
        </p:nvSpPr>
        <p:spPr>
          <a:xfrm>
            <a:off x="2944368" y="3108960"/>
            <a:ext cx="237744" cy="457200"/>
          </a:xfrm>
          <a:prstGeom prst="down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493008" y="3657600"/>
            <a:ext cx="566928" cy="566928"/>
          </a:xfrm>
          <a:prstGeom prst="ellipse">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14" name="Down Arrow 13"/>
          <p:cNvSpPr/>
          <p:nvPr/>
        </p:nvSpPr>
        <p:spPr>
          <a:xfrm>
            <a:off x="3657600" y="3108960"/>
            <a:ext cx="237744" cy="457200"/>
          </a:xfrm>
          <a:prstGeom prst="downArrow">
            <a:avLst/>
          </a:prstGeom>
          <a:solidFill>
            <a:srgbClr val="9A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343400"/>
            <a:ext cx="5303520" cy="365760"/>
          </a:xfrm>
          <a:prstGeom prst="rect">
            <a:avLst/>
          </a:prstGeom>
          <a:noFill/>
        </p:spPr>
        <p:txBody>
          <a:bodyPr wrap="square">
            <a:spAutoFit/>
          </a:bodyPr>
          <a:lstStyle/>
          <a:p>
            <a:pPr algn="ctr">
              <a:spcAft>
                <a:spcPts val="0"/>
              </a:spcAft>
            </a:pPr>
            <a:r>
              <a:rPr sz="1300" b="0">
                <a:solidFill>
                  <a:srgbClr val="595959"/>
                </a:solidFill>
                <a:latin typeface="Arial"/>
              </a:rPr>
              <a:t>Same voice for everyone</a:t>
            </a:r>
          </a:p>
        </p:txBody>
      </p:sp>
      <p:sp>
        <p:nvSpPr>
          <p:cNvPr id="16" name="TextBox 15"/>
          <p:cNvSpPr txBox="1"/>
          <p:nvPr/>
        </p:nvSpPr>
        <p:spPr>
          <a:xfrm>
            <a:off x="6309360" y="1371600"/>
            <a:ext cx="5303520" cy="365760"/>
          </a:xfrm>
          <a:prstGeom prst="rect">
            <a:avLst/>
          </a:prstGeom>
          <a:noFill/>
        </p:spPr>
        <p:txBody>
          <a:bodyPr wrap="square">
            <a:spAutoFit/>
          </a:bodyPr>
          <a:lstStyle/>
          <a:p>
            <a:pPr algn="l">
              <a:spcAft>
                <a:spcPts val="0"/>
              </a:spcAft>
            </a:pPr>
            <a:r>
              <a:rPr sz="1600" b="1">
                <a:solidFill>
                  <a:srgbClr val="002060"/>
                </a:solidFill>
                <a:latin typeface="Arial"/>
              </a:rPr>
              <a:t>With persona design</a:t>
            </a:r>
          </a:p>
        </p:txBody>
      </p:sp>
      <p:sp>
        <p:nvSpPr>
          <p:cNvPr id="17" name="Rounded Rectangle 16"/>
          <p:cNvSpPr/>
          <p:nvPr/>
        </p:nvSpPr>
        <p:spPr>
          <a:xfrm>
            <a:off x="6263640" y="1920240"/>
            <a:ext cx="960120" cy="82296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100" b="1">
                <a:solidFill>
                  <a:srgbClr val="FFFFFF"/>
                </a:solidFill>
                <a:latin typeface="Arial"/>
              </a:rPr>
              <a:t>Warm</a:t>
            </a:r>
          </a:p>
        </p:txBody>
      </p:sp>
      <p:sp>
        <p:nvSpPr>
          <p:cNvPr id="18" name="Oval 17"/>
          <p:cNvSpPr/>
          <p:nvPr/>
        </p:nvSpPr>
        <p:spPr>
          <a:xfrm>
            <a:off x="6464808" y="3657600"/>
            <a:ext cx="566928" cy="566928"/>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19" name="Down Arrow 18"/>
          <p:cNvSpPr/>
          <p:nvPr/>
        </p:nvSpPr>
        <p:spPr>
          <a:xfrm>
            <a:off x="6629400" y="3108960"/>
            <a:ext cx="237744" cy="457200"/>
          </a:xfrm>
          <a:prstGeom prst="downArrow">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60919" y="1920240"/>
            <a:ext cx="960120" cy="82296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100" b="1">
                <a:solidFill>
                  <a:srgbClr val="FFFFFF"/>
                </a:solidFill>
                <a:latin typeface="Arial"/>
              </a:rPr>
              <a:t>Numbers</a:t>
            </a:r>
          </a:p>
        </p:txBody>
      </p:sp>
      <p:sp>
        <p:nvSpPr>
          <p:cNvPr id="21" name="Oval 20"/>
          <p:cNvSpPr/>
          <p:nvPr/>
        </p:nvSpPr>
        <p:spPr>
          <a:xfrm>
            <a:off x="7562088" y="3657600"/>
            <a:ext cx="566928" cy="566928"/>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22" name="Down Arrow 21"/>
          <p:cNvSpPr/>
          <p:nvPr/>
        </p:nvSpPr>
        <p:spPr>
          <a:xfrm>
            <a:off x="7726679" y="3108960"/>
            <a:ext cx="237744" cy="457200"/>
          </a:xfrm>
          <a:prstGeom prst="down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58200" y="1920240"/>
            <a:ext cx="960120" cy="82296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100" b="1">
                <a:solidFill>
                  <a:srgbClr val="FFFFFF"/>
                </a:solidFill>
                <a:latin typeface="Arial"/>
              </a:rPr>
              <a:t>Brief</a:t>
            </a:r>
          </a:p>
        </p:txBody>
      </p:sp>
      <p:sp>
        <p:nvSpPr>
          <p:cNvPr id="24" name="Oval 23"/>
          <p:cNvSpPr/>
          <p:nvPr/>
        </p:nvSpPr>
        <p:spPr>
          <a:xfrm>
            <a:off x="8659368" y="3657600"/>
            <a:ext cx="566928" cy="566928"/>
          </a:xfrm>
          <a:prstGeom prst="ellipse">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25" name="Down Arrow 24"/>
          <p:cNvSpPr/>
          <p:nvPr/>
        </p:nvSpPr>
        <p:spPr>
          <a:xfrm>
            <a:off x="8823960" y="3108960"/>
            <a:ext cx="237744" cy="457200"/>
          </a:xfrm>
          <a:prstGeom prst="downArrow">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55480" y="1920240"/>
            <a:ext cx="960120" cy="82296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100" b="1">
                <a:solidFill>
                  <a:srgbClr val="FFFFFF"/>
                </a:solidFill>
                <a:latin typeface="Arial"/>
              </a:rPr>
              <a:t>Patient</a:t>
            </a:r>
          </a:p>
        </p:txBody>
      </p:sp>
      <p:sp>
        <p:nvSpPr>
          <p:cNvPr id="27" name="Oval 26"/>
          <p:cNvSpPr/>
          <p:nvPr/>
        </p:nvSpPr>
        <p:spPr>
          <a:xfrm>
            <a:off x="9756648" y="3657600"/>
            <a:ext cx="566928" cy="566928"/>
          </a:xfrm>
          <a:prstGeom prst="ellipse">
            <a:avLst/>
          </a:prstGeom>
          <a:solidFill>
            <a:srgbClr val="5B3E9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28" name="Down Arrow 27"/>
          <p:cNvSpPr/>
          <p:nvPr/>
        </p:nvSpPr>
        <p:spPr>
          <a:xfrm>
            <a:off x="9921240" y="3108960"/>
            <a:ext cx="237744" cy="457200"/>
          </a:xfrm>
          <a:prstGeom prst="downArrow">
            <a:avLst/>
          </a:prstGeom>
          <a:solidFill>
            <a:srgbClr val="5B3E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652759" y="1920240"/>
            <a:ext cx="960120" cy="822960"/>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100" b="1">
                <a:solidFill>
                  <a:srgbClr val="FFFFFF"/>
                </a:solidFill>
                <a:latin typeface="Arial"/>
              </a:rPr>
              <a:t>Senior</a:t>
            </a:r>
          </a:p>
        </p:txBody>
      </p:sp>
      <p:sp>
        <p:nvSpPr>
          <p:cNvPr id="30" name="Oval 29"/>
          <p:cNvSpPr/>
          <p:nvPr/>
        </p:nvSpPr>
        <p:spPr>
          <a:xfrm>
            <a:off x="10853928" y="3657600"/>
            <a:ext cx="566928" cy="566928"/>
          </a:xfrm>
          <a:prstGeom prst="ellipse">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FFFFFF"/>
                </a:solidFill>
                <a:latin typeface="Arial"/>
              </a:rPr>
              <a:t>S</a:t>
            </a:r>
          </a:p>
        </p:txBody>
      </p:sp>
      <p:sp>
        <p:nvSpPr>
          <p:cNvPr id="31" name="Down Arrow 30"/>
          <p:cNvSpPr/>
          <p:nvPr/>
        </p:nvSpPr>
        <p:spPr>
          <a:xfrm>
            <a:off x="11018520" y="3108960"/>
            <a:ext cx="237744" cy="457200"/>
          </a:xfrm>
          <a:prstGeom prst="down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4343400"/>
            <a:ext cx="5303520" cy="365760"/>
          </a:xfrm>
          <a:prstGeom prst="rect">
            <a:avLst/>
          </a:prstGeom>
          <a:noFill/>
        </p:spPr>
        <p:txBody>
          <a:bodyPr wrap="square">
            <a:spAutoFit/>
          </a:bodyPr>
          <a:lstStyle/>
          <a:p>
            <a:pPr algn="ctr">
              <a:spcAft>
                <a:spcPts val="0"/>
              </a:spcAft>
            </a:pPr>
            <a:r>
              <a:rPr sz="1300" b="0">
                <a:solidFill>
                  <a:srgbClr val="002060"/>
                </a:solidFill>
                <a:latin typeface="Arial"/>
              </a:rPr>
              <a:t>A different persona for each seller</a:t>
            </a:r>
          </a:p>
        </p:txBody>
      </p:sp>
      <p:sp>
        <p:nvSpPr>
          <p:cNvPr id="33" name="TextBox 32"/>
          <p:cNvSpPr txBox="1"/>
          <p:nvPr/>
        </p:nvSpPr>
        <p:spPr>
          <a:xfrm>
            <a:off x="566928" y="4846320"/>
            <a:ext cx="11064240" cy="822960"/>
          </a:xfrm>
          <a:prstGeom prst="rect">
            <a:avLst/>
          </a:prstGeom>
          <a:noFill/>
        </p:spPr>
        <p:txBody>
          <a:bodyPr wrap="square">
            <a:spAutoFit/>
          </a:bodyPr>
          <a:lstStyle/>
          <a:p>
            <a:pPr algn="ctr">
              <a:spcAft>
                <a:spcPts val="0"/>
              </a:spcAft>
            </a:pPr>
            <a:r>
              <a:rPr sz="4400" b="1">
                <a:solidFill>
                  <a:srgbClr val="C00000"/>
                </a:solidFill>
                <a:latin typeface="Arial"/>
              </a:rPr>
              <a:t>26% to 14%</a:t>
            </a:r>
          </a:p>
        </p:txBody>
      </p:sp>
      <p:sp>
        <p:nvSpPr>
          <p:cNvPr id="34" name="TextBox 33"/>
          <p:cNvSpPr txBox="1"/>
          <p:nvPr/>
        </p:nvSpPr>
        <p:spPr>
          <a:xfrm>
            <a:off x="566928" y="5623559"/>
            <a:ext cx="11064240" cy="548640"/>
          </a:xfrm>
          <a:prstGeom prst="rect">
            <a:avLst/>
          </a:prstGeom>
          <a:noFill/>
        </p:spPr>
        <p:txBody>
          <a:bodyPr wrap="square">
            <a:spAutoFit/>
          </a:bodyPr>
          <a:lstStyle/>
          <a:p>
            <a:pPr algn="ctr">
              <a:spcAft>
                <a:spcPts val="0"/>
              </a:spcAft>
            </a:pPr>
            <a:r>
              <a:rPr sz="1300" b="0">
                <a:solidFill>
                  <a:srgbClr val="595959"/>
                </a:solidFill>
                <a:latin typeface="Arial"/>
              </a:rPr>
              <a:t>in transcribed calls (n = 11,834), a rush signal cuts the meeting 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Read About Each Seller</a:t>
            </a:r>
          </a:p>
        </p:txBody>
      </p:sp>
      <p:sp>
        <p:nvSpPr>
          <p:cNvPr id="3" name="Oval 2"/>
          <p:cNvSpPr/>
          <p:nvPr/>
        </p:nvSpPr>
        <p:spPr>
          <a:xfrm>
            <a:off x="5074920" y="2880360"/>
            <a:ext cx="2011680" cy="20116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2000" b="1">
                <a:solidFill>
                  <a:srgbClr val="FFFFFF"/>
                </a:solidFill>
                <a:latin typeface="Arial"/>
              </a:rPr>
              <a:t>SELLER</a:t>
            </a:r>
          </a:p>
        </p:txBody>
      </p:sp>
      <p:sp>
        <p:nvSpPr>
          <p:cNvPr id="4" name="Rounded Rectangle 3"/>
          <p:cNvSpPr/>
          <p:nvPr/>
        </p:nvSpPr>
        <p:spPr>
          <a:xfrm>
            <a:off x="411480" y="14630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Plan</a:t>
            </a:r>
          </a:p>
          <a:p>
            <a:pPr algn="ctr">
              <a:spcAft>
                <a:spcPts val="0"/>
              </a:spcAft>
            </a:pPr>
            <a:r>
              <a:rPr sz="1000" b="0">
                <a:solidFill>
                  <a:srgbClr val="595959"/>
                </a:solidFill>
                <a:latin typeface="Arial"/>
              </a:rPr>
              <a:t>free or paid</a:t>
            </a:r>
          </a:p>
        </p:txBody>
      </p:sp>
      <p:sp>
        <p:nvSpPr>
          <p:cNvPr id="5" name="Rounded Rectangle 4"/>
          <p:cNvSpPr/>
          <p:nvPr/>
        </p:nvSpPr>
        <p:spPr>
          <a:xfrm>
            <a:off x="411480" y="28346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Size</a:t>
            </a:r>
          </a:p>
          <a:p>
            <a:pPr algn="ctr">
              <a:spcAft>
                <a:spcPts val="0"/>
              </a:spcAft>
            </a:pPr>
            <a:r>
              <a:rPr sz="1000" b="0">
                <a:solidFill>
                  <a:srgbClr val="595959"/>
                </a:solidFill>
                <a:latin typeface="Arial"/>
              </a:rPr>
              <a:t>turnover band</a:t>
            </a:r>
          </a:p>
        </p:txBody>
      </p:sp>
      <p:sp>
        <p:nvSpPr>
          <p:cNvPr id="6" name="Rounded Rectangle 5"/>
          <p:cNvSpPr/>
          <p:nvPr/>
        </p:nvSpPr>
        <p:spPr>
          <a:xfrm>
            <a:off x="411480" y="42062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Order value</a:t>
            </a:r>
          </a:p>
          <a:p>
            <a:pPr algn="ctr">
              <a:spcAft>
                <a:spcPts val="0"/>
              </a:spcAft>
            </a:pPr>
            <a:r>
              <a:rPr sz="1000" b="0">
                <a:solidFill>
                  <a:srgbClr val="595959"/>
                </a:solidFill>
                <a:latin typeface="Arial"/>
              </a:rPr>
              <a:t>vs category</a:t>
            </a:r>
          </a:p>
        </p:txBody>
      </p:sp>
      <p:sp>
        <p:nvSpPr>
          <p:cNvPr id="7" name="Rounded Rectangle 6"/>
          <p:cNvSpPr/>
          <p:nvPr/>
        </p:nvSpPr>
        <p:spPr>
          <a:xfrm>
            <a:off x="2743200" y="14630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Location</a:t>
            </a:r>
          </a:p>
          <a:p>
            <a:pPr algn="ctr">
              <a:spcAft>
                <a:spcPts val="0"/>
              </a:spcAft>
            </a:pPr>
            <a:r>
              <a:rPr sz="1000" b="0">
                <a:solidFill>
                  <a:srgbClr val="595959"/>
                </a:solidFill>
                <a:latin typeface="Arial"/>
              </a:rPr>
              <a:t>language start</a:t>
            </a:r>
          </a:p>
        </p:txBody>
      </p:sp>
      <p:sp>
        <p:nvSpPr>
          <p:cNvPr id="8" name="Rounded Rectangle 7"/>
          <p:cNvSpPr/>
          <p:nvPr/>
        </p:nvSpPr>
        <p:spPr>
          <a:xfrm>
            <a:off x="2743200" y="42062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Catalogue</a:t>
            </a:r>
          </a:p>
          <a:p>
            <a:pPr algn="ctr">
              <a:spcAft>
                <a:spcPts val="0"/>
              </a:spcAft>
            </a:pPr>
            <a:r>
              <a:rPr sz="1000" b="0">
                <a:solidFill>
                  <a:srgbClr val="595959"/>
                </a:solidFill>
                <a:latin typeface="Arial"/>
              </a:rPr>
              <a:t>quality score</a:t>
            </a:r>
          </a:p>
        </p:txBody>
      </p:sp>
      <p:sp>
        <p:nvSpPr>
          <p:cNvPr id="9" name="Rounded Rectangle 8"/>
          <p:cNvSpPr/>
          <p:nvPr/>
        </p:nvSpPr>
        <p:spPr>
          <a:xfrm>
            <a:off x="7315200" y="14630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Buy leads</a:t>
            </a:r>
          </a:p>
          <a:p>
            <a:pPr algn="ctr">
              <a:spcAft>
                <a:spcPts val="0"/>
              </a:spcAft>
            </a:pPr>
            <a:r>
              <a:rPr sz="1000" b="0">
                <a:solidFill>
                  <a:srgbClr val="595959"/>
                </a:solidFill>
                <a:latin typeface="Arial"/>
              </a:rPr>
              <a:t>usage, quality</a:t>
            </a:r>
          </a:p>
        </p:txBody>
      </p:sp>
      <p:sp>
        <p:nvSpPr>
          <p:cNvPr id="10" name="Rounded Rectangle 9"/>
          <p:cNvSpPr/>
          <p:nvPr/>
        </p:nvSpPr>
        <p:spPr>
          <a:xfrm>
            <a:off x="7315200" y="42062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Enquiries</a:t>
            </a:r>
          </a:p>
          <a:p>
            <a:pPr algn="ctr">
              <a:spcAft>
                <a:spcPts val="0"/>
              </a:spcAft>
            </a:pPr>
            <a:r>
              <a:rPr sz="1000" b="0">
                <a:solidFill>
                  <a:srgbClr val="595959"/>
                </a:solidFill>
                <a:latin typeface="Arial"/>
              </a:rPr>
              <a:t>rising or falling</a:t>
            </a:r>
          </a:p>
        </p:txBody>
      </p:sp>
      <p:sp>
        <p:nvSpPr>
          <p:cNvPr id="11" name="Rounded Rectangle 10"/>
          <p:cNvSpPr/>
          <p:nvPr/>
        </p:nvSpPr>
        <p:spPr>
          <a:xfrm>
            <a:off x="9692640" y="14630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Past calls</a:t>
            </a:r>
          </a:p>
          <a:p>
            <a:pPr algn="ctr">
              <a:spcAft>
                <a:spcPts val="0"/>
              </a:spcAft>
            </a:pPr>
            <a:r>
              <a:rPr sz="1000" b="0">
                <a:solidFill>
                  <a:srgbClr val="595959"/>
                </a:solidFill>
                <a:latin typeface="Arial"/>
              </a:rPr>
              <a:t>mood, objections</a:t>
            </a:r>
          </a:p>
        </p:txBody>
      </p:sp>
      <p:sp>
        <p:nvSpPr>
          <p:cNvPr id="12" name="Rounded Rectangle 11"/>
          <p:cNvSpPr/>
          <p:nvPr/>
        </p:nvSpPr>
        <p:spPr>
          <a:xfrm>
            <a:off x="9692640" y="28346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Similar sellers</a:t>
            </a:r>
          </a:p>
          <a:p>
            <a:pPr algn="ctr">
              <a:spcAft>
                <a:spcPts val="0"/>
              </a:spcAft>
            </a:pPr>
            <a:r>
              <a:rPr sz="1000" b="0">
                <a:solidFill>
                  <a:srgbClr val="595959"/>
                </a:solidFill>
                <a:latin typeface="Arial"/>
              </a:rPr>
              <a:t>same size, same category</a:t>
            </a:r>
          </a:p>
        </p:txBody>
      </p:sp>
      <p:sp>
        <p:nvSpPr>
          <p:cNvPr id="13" name="Rounded Rectangle 12"/>
          <p:cNvSpPr/>
          <p:nvPr/>
        </p:nvSpPr>
        <p:spPr>
          <a:xfrm>
            <a:off x="9692640" y="4206240"/>
            <a:ext cx="2103120" cy="868680"/>
          </a:xfrm>
          <a:prstGeom prst="roundRect">
            <a:avLst>
              <a:gd name="adj" fmla="val 25000"/>
            </a:avLst>
          </a:prstGeom>
          <a:solidFill>
            <a:srgbClr val="EEF2F8"/>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300" b="1">
                <a:solidFill>
                  <a:srgbClr val="002060"/>
                </a:solidFill>
                <a:latin typeface="Arial"/>
              </a:rPr>
              <a:t>Handler</a:t>
            </a:r>
          </a:p>
          <a:p>
            <a:pPr algn="ctr">
              <a:spcAft>
                <a:spcPts val="0"/>
              </a:spcAft>
            </a:pPr>
            <a:r>
              <a:rPr sz="1000" b="0">
                <a:solidFill>
                  <a:srgbClr val="595959"/>
                </a:solidFill>
                <a:latin typeface="Arial"/>
              </a:rPr>
              <a:t>assigned executive</a:t>
            </a:r>
          </a:p>
        </p:txBody>
      </p:sp>
      <p:sp>
        <p:nvSpPr>
          <p:cNvPr id="14" name="TextBox 13"/>
          <p:cNvSpPr txBox="1"/>
          <p:nvPr/>
        </p:nvSpPr>
        <p:spPr>
          <a:xfrm>
            <a:off x="3108960" y="5806440"/>
            <a:ext cx="6035040" cy="274320"/>
          </a:xfrm>
          <a:prstGeom prst="rect">
            <a:avLst/>
          </a:prstGeom>
          <a:noFill/>
        </p:spPr>
        <p:txBody>
          <a:bodyPr wrap="square">
            <a:spAutoFit/>
          </a:bodyPr>
          <a:lstStyle/>
          <a:p>
            <a:pPr algn="ctr">
              <a:spcAft>
                <a:spcPts val="0"/>
              </a:spcAft>
            </a:pPr>
            <a:r>
              <a:rPr sz="1300" b="1">
                <a:solidFill>
                  <a:srgbClr val="C00000"/>
                </a:solidFill>
                <a:latin typeface="Arial"/>
              </a:rPr>
              <a:t>50+ data points per seller feed the persona and the hook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Personas: How VANI Sounds</a:t>
            </a:r>
          </a:p>
        </p:txBody>
      </p:sp>
      <p:sp>
        <p:nvSpPr>
          <p:cNvPr id="3" name="Rounded Rectangle 2"/>
          <p:cNvSpPr/>
          <p:nvPr/>
        </p:nvSpPr>
        <p:spPr>
          <a:xfrm>
            <a:off x="502920" y="1417320"/>
            <a:ext cx="2743200" cy="1920240"/>
          </a:xfrm>
          <a:prstGeom prst="roundRect">
            <a:avLst>
              <a:gd name="adj" fmla="val 6000"/>
            </a:avLst>
          </a:prstGeom>
          <a:solidFill>
            <a:srgbClr val="FFFFFF"/>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595959"/>
                </a:solidFill>
                <a:latin typeface="Arial"/>
              </a:rPr>
              <a:t>Default</a:t>
            </a:r>
          </a:p>
          <a:p>
            <a:pPr algn="l">
              <a:spcAft>
                <a:spcPts val="0"/>
              </a:spcAft>
            </a:pPr>
            <a:r>
              <a:rPr sz="1200" b="0">
                <a:solidFill>
                  <a:srgbClr val="262626"/>
                </a:solidFill>
                <a:latin typeface="Arial"/>
              </a:rPr>
              <a:t>baseline for comparison</a:t>
            </a:r>
          </a:p>
        </p:txBody>
      </p:sp>
      <p:sp>
        <p:nvSpPr>
          <p:cNvPr id="4" name="Oval 3"/>
          <p:cNvSpPr/>
          <p:nvPr/>
        </p:nvSpPr>
        <p:spPr>
          <a:xfrm>
            <a:off x="640080" y="1554480"/>
            <a:ext cx="640080" cy="640080"/>
          </a:xfrm>
          <a:prstGeom prst="ellipse">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P0</a:t>
            </a:r>
          </a:p>
        </p:txBody>
      </p:sp>
      <p:sp>
        <p:nvSpPr>
          <p:cNvPr id="5" name="Rounded Rectangle 4"/>
          <p:cNvSpPr/>
          <p:nvPr/>
        </p:nvSpPr>
        <p:spPr>
          <a:xfrm>
            <a:off x="3429000" y="1417320"/>
            <a:ext cx="2743200" cy="1920240"/>
          </a:xfrm>
          <a:prstGeom prst="roundRect">
            <a:avLst>
              <a:gd name="adj" fmla="val 6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002060"/>
                </a:solidFill>
                <a:latin typeface="Arial"/>
              </a:rPr>
              <a:t>Numbers-first</a:t>
            </a:r>
          </a:p>
          <a:p>
            <a:pPr algn="l">
              <a:spcAft>
                <a:spcPts val="0"/>
              </a:spcAft>
            </a:pPr>
            <a:r>
              <a:rPr sz="1200" b="0">
                <a:solidFill>
                  <a:srgbClr val="262626"/>
                </a:solidFill>
                <a:latin typeface="Arial"/>
              </a:rPr>
              <a:t>leads with one number: bigger sellers</a:t>
            </a:r>
          </a:p>
        </p:txBody>
      </p:sp>
      <p:sp>
        <p:nvSpPr>
          <p:cNvPr id="6" name="Oval 5"/>
          <p:cNvSpPr/>
          <p:nvPr/>
        </p:nvSpPr>
        <p:spPr>
          <a:xfrm>
            <a:off x="3566160" y="155448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P1</a:t>
            </a:r>
          </a:p>
        </p:txBody>
      </p:sp>
      <p:sp>
        <p:nvSpPr>
          <p:cNvPr id="7" name="Rounded Rectangle 6"/>
          <p:cNvSpPr/>
          <p:nvPr/>
        </p:nvSpPr>
        <p:spPr>
          <a:xfrm>
            <a:off x="6355080" y="1417320"/>
            <a:ext cx="2743200" cy="1920240"/>
          </a:xfrm>
          <a:prstGeom prst="roundRect">
            <a:avLst>
              <a:gd name="adj" fmla="val 6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C00000"/>
                </a:solidFill>
                <a:latin typeface="Arial"/>
              </a:rPr>
              <a:t>Warm local helper</a:t>
            </a:r>
          </a:p>
          <a:p>
            <a:pPr algn="l">
              <a:spcAft>
                <a:spcPts val="0"/>
              </a:spcAft>
            </a:pPr>
            <a:r>
              <a:rPr sz="1200" b="0">
                <a:solidFill>
                  <a:srgbClr val="262626"/>
                </a:solidFill>
                <a:latin typeface="Arial"/>
              </a:rPr>
              <a:t>own language, simple words: small towns</a:t>
            </a:r>
          </a:p>
        </p:txBody>
      </p:sp>
      <p:sp>
        <p:nvSpPr>
          <p:cNvPr id="8" name="Oval 7"/>
          <p:cNvSpPr/>
          <p:nvPr/>
        </p:nvSpPr>
        <p:spPr>
          <a:xfrm>
            <a:off x="6492240" y="1554480"/>
            <a:ext cx="640080" cy="6400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P2</a:t>
            </a:r>
          </a:p>
        </p:txBody>
      </p:sp>
      <p:sp>
        <p:nvSpPr>
          <p:cNvPr id="9" name="Rounded Rectangle 8"/>
          <p:cNvSpPr/>
          <p:nvPr/>
        </p:nvSpPr>
        <p:spPr>
          <a:xfrm>
            <a:off x="9281160" y="1417320"/>
            <a:ext cx="2743200" cy="1920240"/>
          </a:xfrm>
          <a:prstGeom prst="roundRect">
            <a:avLst>
              <a:gd name="adj" fmla="val 6000"/>
            </a:avLst>
          </a:prstGeom>
          <a:solidFill>
            <a:srgbClr val="FFFFFF"/>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2EA896"/>
                </a:solidFill>
                <a:latin typeface="Arial"/>
              </a:rPr>
              <a:t>Patient guide</a:t>
            </a:r>
          </a:p>
          <a:p>
            <a:pPr algn="l">
              <a:spcAft>
                <a:spcPts val="0"/>
              </a:spcAft>
            </a:pPr>
            <a:r>
              <a:rPr sz="1200" b="0">
                <a:solidFill>
                  <a:srgbClr val="262626"/>
                </a:solidFill>
                <a:latin typeface="Arial"/>
              </a:rPr>
              <a:t>short phrases, checks understanding</a:t>
            </a:r>
          </a:p>
        </p:txBody>
      </p:sp>
      <p:sp>
        <p:nvSpPr>
          <p:cNvPr id="10" name="Oval 9"/>
          <p:cNvSpPr/>
          <p:nvPr/>
        </p:nvSpPr>
        <p:spPr>
          <a:xfrm>
            <a:off x="9418320" y="1554480"/>
            <a:ext cx="640080" cy="640080"/>
          </a:xfrm>
          <a:prstGeom prst="ellipse">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P3</a:t>
            </a:r>
          </a:p>
        </p:txBody>
      </p:sp>
      <p:sp>
        <p:nvSpPr>
          <p:cNvPr id="11" name="Rounded Rectangle 10"/>
          <p:cNvSpPr/>
          <p:nvPr/>
        </p:nvSpPr>
        <p:spPr>
          <a:xfrm>
            <a:off x="502920" y="3566160"/>
            <a:ext cx="2743200" cy="1920240"/>
          </a:xfrm>
          <a:prstGeom prst="roundRect">
            <a:avLst>
              <a:gd name="adj" fmla="val 6000"/>
            </a:avLst>
          </a:prstGeom>
          <a:solidFill>
            <a:srgbClr val="FFFFFF"/>
          </a:solidFill>
          <a:ln w="12700">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E08A00"/>
                </a:solidFill>
                <a:latin typeface="Arial"/>
              </a:rPr>
              <a:t>Brief and busy-friendly</a:t>
            </a:r>
          </a:p>
          <a:p>
            <a:pPr algn="l">
              <a:spcAft>
                <a:spcPts val="0"/>
              </a:spcAft>
            </a:pPr>
            <a:r>
              <a:rPr sz="1200" b="0">
                <a:solidFill>
                  <a:srgbClr val="262626"/>
                </a:solidFill>
                <a:latin typeface="Arial"/>
              </a:rPr>
              <a:t>one short line, callback at once</a:t>
            </a:r>
          </a:p>
        </p:txBody>
      </p:sp>
      <p:sp>
        <p:nvSpPr>
          <p:cNvPr id="12" name="Oval 11"/>
          <p:cNvSpPr/>
          <p:nvPr/>
        </p:nvSpPr>
        <p:spPr>
          <a:xfrm>
            <a:off x="640080" y="3703320"/>
            <a:ext cx="640080" cy="640080"/>
          </a:xfrm>
          <a:prstGeom prst="ellipse">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P4</a:t>
            </a:r>
          </a:p>
        </p:txBody>
      </p:sp>
      <p:sp>
        <p:nvSpPr>
          <p:cNvPr id="13" name="Rounded Rectangle 12"/>
          <p:cNvSpPr/>
          <p:nvPr/>
        </p:nvSpPr>
        <p:spPr>
          <a:xfrm>
            <a:off x="3429000" y="3566160"/>
            <a:ext cx="2743200" cy="1920240"/>
          </a:xfrm>
          <a:prstGeom prst="roundRect">
            <a:avLst>
              <a:gd name="adj" fmla="val 6000"/>
            </a:avLst>
          </a:prstGeom>
          <a:solidFill>
            <a:srgbClr val="FFFFFF"/>
          </a:solidFill>
          <a:ln w="12700">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5B3E96"/>
                </a:solidFill>
                <a:latin typeface="Arial"/>
              </a:rPr>
              <a:t>Problem-solver</a:t>
            </a:r>
          </a:p>
          <a:p>
            <a:pPr algn="l">
              <a:spcAft>
                <a:spcPts val="0"/>
              </a:spcAft>
            </a:pPr>
            <a:r>
              <a:rPr sz="1200" b="0">
                <a:solidFill>
                  <a:srgbClr val="262626"/>
                </a:solidFill>
                <a:latin typeface="Arial"/>
              </a:rPr>
              <a:t>acknowledges the complaint first</a:t>
            </a:r>
          </a:p>
        </p:txBody>
      </p:sp>
      <p:sp>
        <p:nvSpPr>
          <p:cNvPr id="14" name="Oval 13"/>
          <p:cNvSpPr/>
          <p:nvPr/>
        </p:nvSpPr>
        <p:spPr>
          <a:xfrm>
            <a:off x="3566160" y="3703320"/>
            <a:ext cx="640080" cy="640080"/>
          </a:xfrm>
          <a:prstGeom prst="ellipse">
            <a:avLst/>
          </a:prstGeom>
          <a:solidFill>
            <a:srgbClr val="5B3E9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P5</a:t>
            </a:r>
          </a:p>
        </p:txBody>
      </p:sp>
      <p:sp>
        <p:nvSpPr>
          <p:cNvPr id="15" name="Rounded Rectangle 14"/>
          <p:cNvSpPr/>
          <p:nvPr/>
        </p:nvSpPr>
        <p:spPr>
          <a:xfrm>
            <a:off x="6355080" y="3566160"/>
            <a:ext cx="2743200" cy="1920240"/>
          </a:xfrm>
          <a:prstGeom prst="roundRect">
            <a:avLst>
              <a:gd name="adj" fmla="val 6000"/>
            </a:avLst>
          </a:prstGeom>
          <a:solidFill>
            <a:srgbClr val="FFFFFF"/>
          </a:solidFill>
          <a:ln w="12700">
            <a:solidFill>
              <a:srgbClr val="1B6B5E"/>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00" rIns="109728" tIns="54864" bIns="54864"/>
          <a:lstStyle/>
          <a:p>
            <a:pPr algn="l">
              <a:spcAft>
                <a:spcPts val="300"/>
              </a:spcAft>
            </a:pPr>
            <a:r>
              <a:rPr sz="1400" b="1">
                <a:solidFill>
                  <a:srgbClr val="1B6B5E"/>
                </a:solidFill>
                <a:latin typeface="Arial"/>
              </a:rPr>
              <a:t>Senior advisor</a:t>
            </a:r>
          </a:p>
          <a:p>
            <a:pPr algn="l">
              <a:spcAft>
                <a:spcPts val="0"/>
              </a:spcAft>
            </a:pPr>
            <a:r>
              <a:rPr sz="1200" b="0">
                <a:solidFill>
                  <a:srgbClr val="262626"/>
                </a:solidFill>
                <a:latin typeface="Arial"/>
              </a:rPr>
              <a:t>English-led, brief, never pushy</a:t>
            </a:r>
          </a:p>
        </p:txBody>
      </p:sp>
      <p:sp>
        <p:nvSpPr>
          <p:cNvPr id="16" name="Oval 15"/>
          <p:cNvSpPr/>
          <p:nvPr/>
        </p:nvSpPr>
        <p:spPr>
          <a:xfrm>
            <a:off x="6492240" y="3703320"/>
            <a:ext cx="640080" cy="640080"/>
          </a:xfrm>
          <a:prstGeom prst="ellipse">
            <a:avLst/>
          </a:prstGeom>
          <a:solidFill>
            <a:srgbClr val="1B6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500" b="1">
                <a:solidFill>
                  <a:srgbClr val="FFFFFF"/>
                </a:solidFill>
                <a:latin typeface="Arial"/>
              </a:rPr>
              <a:t>P6</a:t>
            </a:r>
          </a:p>
        </p:txBody>
      </p:sp>
      <p:sp>
        <p:nvSpPr>
          <p:cNvPr id="17" name="Rounded Rectangle 16"/>
          <p:cNvSpPr/>
          <p:nvPr/>
        </p:nvSpPr>
        <p:spPr>
          <a:xfrm>
            <a:off x="9281160" y="3566160"/>
            <a:ext cx="2743200" cy="1920240"/>
          </a:xfrm>
          <a:prstGeom prst="roundRect">
            <a:avLst>
              <a:gd name="adj" fmla="val 6000"/>
            </a:avLst>
          </a:prstGeom>
          <a:solidFill>
            <a:srgbClr val="EEF2F8"/>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200" b="1">
                <a:solidFill>
                  <a:srgbClr val="002060"/>
                </a:solidFill>
                <a:latin typeface="Arial"/>
              </a:rPr>
              <a:t>The agent picks one and tunes every field with a cited reason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Engine, Different Persona</a:t>
            </a:r>
          </a:p>
        </p:txBody>
      </p:sp>
      <p:sp>
        <p:nvSpPr>
          <p:cNvPr id="3" name="Rounded Rectangle 2"/>
          <p:cNvSpPr/>
          <p:nvPr/>
        </p:nvSpPr>
        <p:spPr>
          <a:xfrm>
            <a:off x="566928" y="1371600"/>
            <a:ext cx="3383280" cy="86868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Scoreboards</a:t>
            </a:r>
          </a:p>
          <a:p>
            <a:pPr algn="ctr">
              <a:spcAft>
                <a:spcPts val="0"/>
              </a:spcAft>
            </a:pPr>
            <a:r>
              <a:rPr sz="1100" b="0">
                <a:solidFill>
                  <a:srgbClr val="FFFFFF"/>
                </a:solidFill>
                <a:latin typeface="Arial"/>
              </a:rPr>
              <a:t>top 2 personas</a:t>
            </a:r>
          </a:p>
        </p:txBody>
      </p:sp>
      <p:sp>
        <p:nvSpPr>
          <p:cNvPr id="4" name="Right Arrow 3"/>
          <p:cNvSpPr/>
          <p:nvPr/>
        </p:nvSpPr>
        <p:spPr>
          <a:xfrm>
            <a:off x="3995928" y="1600200"/>
            <a:ext cx="365760"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407408" y="1371600"/>
            <a:ext cx="3383280" cy="86868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Agent picks 1</a:t>
            </a:r>
          </a:p>
          <a:p>
            <a:pPr algn="ctr">
              <a:spcAft>
                <a:spcPts val="0"/>
              </a:spcAft>
            </a:pPr>
            <a:r>
              <a:rPr sz="1100" b="0">
                <a:solidFill>
                  <a:srgbClr val="FFFFFF"/>
                </a:solidFill>
                <a:latin typeface="Arial"/>
              </a:rPr>
              <a:t>from the seller's data</a:t>
            </a:r>
          </a:p>
        </p:txBody>
      </p:sp>
      <p:sp>
        <p:nvSpPr>
          <p:cNvPr id="6" name="Right Arrow 5"/>
          <p:cNvSpPr/>
          <p:nvPr/>
        </p:nvSpPr>
        <p:spPr>
          <a:xfrm>
            <a:off x="7836408" y="1600200"/>
            <a:ext cx="365760"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47888" y="1371600"/>
            <a:ext cx="3383280" cy="86868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Tunes 12 fields</a:t>
            </a:r>
          </a:p>
          <a:p>
            <a:pPr algn="ctr">
              <a:spcAft>
                <a:spcPts val="0"/>
              </a:spcAft>
            </a:pPr>
            <a:r>
              <a:rPr sz="1100" b="0">
                <a:solidFill>
                  <a:srgbClr val="FFFFFF"/>
                </a:solidFill>
                <a:latin typeface="Arial"/>
              </a:rPr>
              <a:t>each with a cited reason</a:t>
            </a:r>
          </a:p>
        </p:txBody>
      </p:sp>
      <p:sp>
        <p:nvSpPr>
          <p:cNvPr id="8" name="TextBox 7"/>
          <p:cNvSpPr txBox="1"/>
          <p:nvPr/>
        </p:nvSpPr>
        <p:spPr>
          <a:xfrm>
            <a:off x="566928" y="2377440"/>
            <a:ext cx="3291840" cy="274320"/>
          </a:xfrm>
          <a:prstGeom prst="rect">
            <a:avLst/>
          </a:prstGeom>
          <a:noFill/>
        </p:spPr>
        <p:txBody>
          <a:bodyPr wrap="square">
            <a:spAutoFit/>
          </a:bodyPr>
          <a:lstStyle/>
          <a:p>
            <a:pPr algn="l">
              <a:spcAft>
                <a:spcPts val="0"/>
              </a:spcAft>
            </a:pPr>
            <a:r>
              <a:rPr sz="1000" b="1">
                <a:solidFill>
                  <a:srgbClr val="595959"/>
                </a:solidFill>
                <a:latin typeface="Arial"/>
              </a:rPr>
              <a:t>SELLER (illustrative)</a:t>
            </a:r>
          </a:p>
        </p:txBody>
      </p:sp>
      <p:sp>
        <p:nvSpPr>
          <p:cNvPr id="9" name="TextBox 8"/>
          <p:cNvSpPr txBox="1"/>
          <p:nvPr/>
        </p:nvSpPr>
        <p:spPr>
          <a:xfrm>
            <a:off x="4114800" y="2377440"/>
            <a:ext cx="2468880" cy="274320"/>
          </a:xfrm>
          <a:prstGeom prst="rect">
            <a:avLst/>
          </a:prstGeom>
          <a:noFill/>
        </p:spPr>
        <p:txBody>
          <a:bodyPr wrap="square">
            <a:spAutoFit/>
          </a:bodyPr>
          <a:lstStyle/>
          <a:p>
            <a:pPr algn="l">
              <a:spcAft>
                <a:spcPts val="0"/>
              </a:spcAft>
            </a:pPr>
            <a:r>
              <a:rPr sz="1000" b="1">
                <a:solidFill>
                  <a:srgbClr val="595959"/>
                </a:solidFill>
                <a:latin typeface="Arial"/>
              </a:rPr>
              <a:t>PERSONA</a:t>
            </a:r>
          </a:p>
        </p:txBody>
      </p:sp>
      <p:sp>
        <p:nvSpPr>
          <p:cNvPr id="10" name="TextBox 9"/>
          <p:cNvSpPr txBox="1"/>
          <p:nvPr/>
        </p:nvSpPr>
        <p:spPr>
          <a:xfrm>
            <a:off x="6720840" y="2377440"/>
            <a:ext cx="2286000" cy="274320"/>
          </a:xfrm>
          <a:prstGeom prst="rect">
            <a:avLst/>
          </a:prstGeom>
          <a:noFill/>
        </p:spPr>
        <p:txBody>
          <a:bodyPr wrap="square">
            <a:spAutoFit/>
          </a:bodyPr>
          <a:lstStyle/>
          <a:p>
            <a:pPr algn="l">
              <a:spcAft>
                <a:spcPts val="0"/>
              </a:spcAft>
            </a:pPr>
            <a:r>
              <a:rPr sz="1000" b="1">
                <a:solidFill>
                  <a:srgbClr val="595959"/>
                </a:solidFill>
                <a:latin typeface="Arial"/>
              </a:rPr>
              <a:t>HOOK</a:t>
            </a:r>
          </a:p>
        </p:txBody>
      </p:sp>
      <p:sp>
        <p:nvSpPr>
          <p:cNvPr id="11" name="TextBox 10"/>
          <p:cNvSpPr txBox="1"/>
          <p:nvPr/>
        </p:nvSpPr>
        <p:spPr>
          <a:xfrm>
            <a:off x="9144000" y="2377440"/>
            <a:ext cx="2468880" cy="274320"/>
          </a:xfrm>
          <a:prstGeom prst="rect">
            <a:avLst/>
          </a:prstGeom>
          <a:noFill/>
        </p:spPr>
        <p:txBody>
          <a:bodyPr wrap="square">
            <a:spAutoFit/>
          </a:bodyPr>
          <a:lstStyle/>
          <a:p>
            <a:pPr algn="l">
              <a:spcAft>
                <a:spcPts val="0"/>
              </a:spcAft>
            </a:pPr>
            <a:r>
              <a:rPr sz="1000" b="1">
                <a:solidFill>
                  <a:srgbClr val="595959"/>
                </a:solidFill>
                <a:latin typeface="Arial"/>
              </a:rPr>
              <a:t>SOUNDS LIKE</a:t>
            </a:r>
          </a:p>
        </p:txBody>
      </p:sp>
      <p:sp>
        <p:nvSpPr>
          <p:cNvPr id="12" name="Rounded Rectangle 11"/>
          <p:cNvSpPr/>
          <p:nvPr/>
        </p:nvSpPr>
        <p:spPr>
          <a:xfrm>
            <a:off x="566928" y="2697480"/>
            <a:ext cx="3291840" cy="713232"/>
          </a:xfrm>
          <a:prstGeom prst="roundRect">
            <a:avLst>
              <a:gd name="adj" fmla="val 3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0">
                <a:solidFill>
                  <a:srgbClr val="262626"/>
                </a:solidFill>
                <a:latin typeface="Arial"/>
              </a:rPr>
              <a:t>Free seller, small town, Telugu region</a:t>
            </a:r>
          </a:p>
        </p:txBody>
      </p:sp>
      <p:sp>
        <p:nvSpPr>
          <p:cNvPr id="13" name="Right Arrow 12"/>
          <p:cNvSpPr/>
          <p:nvPr/>
        </p:nvSpPr>
        <p:spPr>
          <a:xfrm>
            <a:off x="3886200" y="2880360"/>
            <a:ext cx="274320" cy="320040"/>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06240" y="2697480"/>
            <a:ext cx="2377440" cy="713232"/>
          </a:xfrm>
          <a:prstGeom prst="roundRect">
            <a:avLst>
              <a:gd name="adj" fmla="val 3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P2 Warm local helper</a:t>
            </a:r>
          </a:p>
        </p:txBody>
      </p:sp>
      <p:sp>
        <p:nvSpPr>
          <p:cNvPr id="15" name="Rounded Rectangle 14"/>
          <p:cNvSpPr/>
          <p:nvPr/>
        </p:nvSpPr>
        <p:spPr>
          <a:xfrm>
            <a:off x="6720840" y="2697480"/>
            <a:ext cx="2286000" cy="713232"/>
          </a:xfrm>
          <a:prstGeom prst="roundRect">
            <a:avLst>
              <a:gd name="adj" fmla="val 3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Profile gap</a:t>
            </a:r>
          </a:p>
        </p:txBody>
      </p:sp>
      <p:sp>
        <p:nvSpPr>
          <p:cNvPr id="16" name="Rounded Rectangle 15"/>
          <p:cNvSpPr/>
          <p:nvPr/>
        </p:nvSpPr>
        <p:spPr>
          <a:xfrm>
            <a:off x="9144000" y="2697480"/>
            <a:ext cx="2514600" cy="713232"/>
          </a:xfrm>
          <a:prstGeom prst="roundRect">
            <a:avLst>
              <a:gd name="adj" fmla="val 3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Own language, simple words</a:t>
            </a:r>
          </a:p>
        </p:txBody>
      </p:sp>
      <p:sp>
        <p:nvSpPr>
          <p:cNvPr id="17" name="Rounded Rectangle 16"/>
          <p:cNvSpPr/>
          <p:nvPr/>
        </p:nvSpPr>
        <p:spPr>
          <a:xfrm>
            <a:off x="566928" y="3538728"/>
            <a:ext cx="3291840" cy="713232"/>
          </a:xfrm>
          <a:prstGeom prst="roundRect">
            <a:avLst>
              <a:gd name="adj" fmla="val 3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0">
                <a:solidFill>
                  <a:srgbClr val="262626"/>
                </a:solidFill>
                <a:latin typeface="Arial"/>
              </a:rPr>
              <a:t>Paid seller, many buy leads, always busy</a:t>
            </a:r>
          </a:p>
        </p:txBody>
      </p:sp>
      <p:sp>
        <p:nvSpPr>
          <p:cNvPr id="18" name="Right Arrow 17"/>
          <p:cNvSpPr/>
          <p:nvPr/>
        </p:nvSpPr>
        <p:spPr>
          <a:xfrm>
            <a:off x="3886200" y="3721608"/>
            <a:ext cx="274320" cy="32004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06240" y="3538728"/>
            <a:ext cx="2377440" cy="713232"/>
          </a:xfrm>
          <a:prstGeom prst="roundRect">
            <a:avLst>
              <a:gd name="adj" fmla="val 3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P4 Brief and busy-friendly</a:t>
            </a:r>
          </a:p>
        </p:txBody>
      </p:sp>
      <p:sp>
        <p:nvSpPr>
          <p:cNvPr id="20" name="Rounded Rectangle 19"/>
          <p:cNvSpPr/>
          <p:nvPr/>
        </p:nvSpPr>
        <p:spPr>
          <a:xfrm>
            <a:off x="6720840" y="3538728"/>
            <a:ext cx="2286000" cy="713232"/>
          </a:xfrm>
          <a:prstGeom prst="roundRect">
            <a:avLst>
              <a:gd name="adj" fmla="val 3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Unused credits or money lead</a:t>
            </a:r>
          </a:p>
        </p:txBody>
      </p:sp>
      <p:sp>
        <p:nvSpPr>
          <p:cNvPr id="21" name="Rounded Rectangle 20"/>
          <p:cNvSpPr/>
          <p:nvPr/>
        </p:nvSpPr>
        <p:spPr>
          <a:xfrm>
            <a:off x="9144000" y="3538728"/>
            <a:ext cx="2514600" cy="713232"/>
          </a:xfrm>
          <a:prstGeom prst="roundRect">
            <a:avLst>
              <a:gd name="adj" fmla="val 3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One short line, callback offer</a:t>
            </a:r>
          </a:p>
        </p:txBody>
      </p:sp>
      <p:sp>
        <p:nvSpPr>
          <p:cNvPr id="22" name="Rounded Rectangle 21"/>
          <p:cNvSpPr/>
          <p:nvPr/>
        </p:nvSpPr>
        <p:spPr>
          <a:xfrm>
            <a:off x="566928" y="4379976"/>
            <a:ext cx="3291840" cy="713232"/>
          </a:xfrm>
          <a:prstGeom prst="roundRect">
            <a:avLst>
              <a:gd name="adj" fmla="val 3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0">
                <a:solidFill>
                  <a:srgbClr val="262626"/>
                </a:solidFill>
                <a:latin typeface="Arial"/>
              </a:rPr>
              <a:t>High-turnover owner, Delhi</a:t>
            </a:r>
          </a:p>
        </p:txBody>
      </p:sp>
      <p:sp>
        <p:nvSpPr>
          <p:cNvPr id="23" name="Right Arrow 22"/>
          <p:cNvSpPr/>
          <p:nvPr/>
        </p:nvSpPr>
        <p:spPr>
          <a:xfrm>
            <a:off x="3886200" y="4562856"/>
            <a:ext cx="274320" cy="320040"/>
          </a:xfrm>
          <a:prstGeom prst="rightArrow">
            <a:avLst/>
          </a:prstGeom>
          <a:solidFill>
            <a:srgbClr val="1B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206240" y="4379976"/>
            <a:ext cx="2377440" cy="713232"/>
          </a:xfrm>
          <a:prstGeom prst="roundRect">
            <a:avLst>
              <a:gd name="adj" fmla="val 30000"/>
            </a:avLst>
          </a:prstGeom>
          <a:solidFill>
            <a:srgbClr val="1B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P6 Senior advisor</a:t>
            </a:r>
          </a:p>
        </p:txBody>
      </p:sp>
      <p:sp>
        <p:nvSpPr>
          <p:cNvPr id="25" name="Rounded Rectangle 24"/>
          <p:cNvSpPr/>
          <p:nvPr/>
        </p:nvSpPr>
        <p:spPr>
          <a:xfrm>
            <a:off x="6720840" y="4379976"/>
            <a:ext cx="2286000" cy="713232"/>
          </a:xfrm>
          <a:prstGeom prst="roundRect">
            <a:avLst>
              <a:gd name="adj" fmla="val 30000"/>
            </a:avLst>
          </a:prstGeom>
          <a:solidFill>
            <a:srgbClr val="1B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Peer usage</a:t>
            </a:r>
          </a:p>
        </p:txBody>
      </p:sp>
      <p:sp>
        <p:nvSpPr>
          <p:cNvPr id="26" name="Rounded Rectangle 25"/>
          <p:cNvSpPr/>
          <p:nvPr/>
        </p:nvSpPr>
        <p:spPr>
          <a:xfrm>
            <a:off x="9144000" y="4379976"/>
            <a:ext cx="2514600" cy="713232"/>
          </a:xfrm>
          <a:prstGeom prst="roundRect">
            <a:avLst>
              <a:gd name="adj" fmla="val 30000"/>
            </a:avLst>
          </a:prstGeom>
          <a:solidFill>
            <a:srgbClr val="1B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English-led, numbers, brief</a:t>
            </a:r>
          </a:p>
        </p:txBody>
      </p:sp>
      <p:sp>
        <p:nvSpPr>
          <p:cNvPr id="27" name="Rounded Rectangle 26"/>
          <p:cNvSpPr/>
          <p:nvPr/>
        </p:nvSpPr>
        <p:spPr>
          <a:xfrm>
            <a:off x="566928" y="5221224"/>
            <a:ext cx="3291840" cy="713232"/>
          </a:xfrm>
          <a:prstGeom prst="roundRect">
            <a:avLst>
              <a:gd name="adj" fmla="val 3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0">
                <a:solidFill>
                  <a:srgbClr val="262626"/>
                </a:solidFill>
                <a:latin typeface="Arial"/>
              </a:rPr>
              <a:t>Seller with an open complaint</a:t>
            </a:r>
          </a:p>
        </p:txBody>
      </p:sp>
      <p:sp>
        <p:nvSpPr>
          <p:cNvPr id="28" name="Right Arrow 27"/>
          <p:cNvSpPr/>
          <p:nvPr/>
        </p:nvSpPr>
        <p:spPr>
          <a:xfrm>
            <a:off x="3886200" y="5404104"/>
            <a:ext cx="274320" cy="320040"/>
          </a:xfrm>
          <a:prstGeom prst="rightArrow">
            <a:avLst/>
          </a:prstGeom>
          <a:solidFill>
            <a:srgbClr val="5B3E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6240" y="5221224"/>
            <a:ext cx="2377440" cy="713232"/>
          </a:xfrm>
          <a:prstGeom prst="roundRect">
            <a:avLst>
              <a:gd name="adj" fmla="val 30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P5 Problem-solver</a:t>
            </a:r>
          </a:p>
        </p:txBody>
      </p:sp>
      <p:sp>
        <p:nvSpPr>
          <p:cNvPr id="30" name="Rounded Rectangle 29"/>
          <p:cNvSpPr/>
          <p:nvPr/>
        </p:nvSpPr>
        <p:spPr>
          <a:xfrm>
            <a:off x="6720840" y="5221224"/>
            <a:ext cx="2286000" cy="713232"/>
          </a:xfrm>
          <a:prstGeom prst="roundRect">
            <a:avLst>
              <a:gd name="adj" fmla="val 30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Resolve grievance</a:t>
            </a:r>
          </a:p>
        </p:txBody>
      </p:sp>
      <p:sp>
        <p:nvSpPr>
          <p:cNvPr id="31" name="Rounded Rectangle 30"/>
          <p:cNvSpPr/>
          <p:nvPr/>
        </p:nvSpPr>
        <p:spPr>
          <a:xfrm>
            <a:off x="9144000" y="5221224"/>
            <a:ext cx="2514600" cy="713232"/>
          </a:xfrm>
          <a:prstGeom prst="roundRect">
            <a:avLst>
              <a:gd name="adj" fmla="val 30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200" b="1">
                <a:solidFill>
                  <a:srgbClr val="FFFFFF"/>
                </a:solidFill>
                <a:latin typeface="Arial"/>
              </a:rPr>
              <a:t>Acknowledges first, no pitch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Hooks: Why Should The Seller Meet Us</a:t>
            </a:r>
          </a:p>
        </p:txBody>
      </p:sp>
      <p:sp>
        <p:nvSpPr>
          <p:cNvPr id="3" name="Rounded Rectangle 2"/>
          <p:cNvSpPr/>
          <p:nvPr/>
        </p:nvSpPr>
        <p:spPr>
          <a:xfrm>
            <a:off x="502920" y="1417320"/>
            <a:ext cx="2743200" cy="169164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Money lead</a:t>
            </a:r>
          </a:p>
          <a:p>
            <a:pPr algn="ctr">
              <a:spcAft>
                <a:spcPts val="0"/>
              </a:spcAft>
            </a:pPr>
            <a:r>
              <a:rPr sz="1200" b="0">
                <a:solidFill>
                  <a:srgbClr val="FFFFFF"/>
                </a:solidFill>
                <a:latin typeface="Arial"/>
              </a:rPr>
              <a:t>a real order with its value</a:t>
            </a:r>
          </a:p>
        </p:txBody>
      </p:sp>
      <p:sp>
        <p:nvSpPr>
          <p:cNvPr id="4" name="Rounded Rectangle 3"/>
          <p:cNvSpPr/>
          <p:nvPr/>
        </p:nvSpPr>
        <p:spPr>
          <a:xfrm>
            <a:off x="3429000" y="1417320"/>
            <a:ext cx="2743200" cy="169164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Profile gap</a:t>
            </a:r>
          </a:p>
          <a:p>
            <a:pPr algn="ctr">
              <a:spcAft>
                <a:spcPts val="0"/>
              </a:spcAft>
            </a:pPr>
            <a:r>
              <a:rPr sz="1200" b="0">
                <a:solidFill>
                  <a:srgbClr val="FFFFFF"/>
                </a:solidFill>
                <a:latin typeface="Arial"/>
              </a:rPr>
              <a:t>photos and prices missing</a:t>
            </a:r>
          </a:p>
        </p:txBody>
      </p:sp>
      <p:sp>
        <p:nvSpPr>
          <p:cNvPr id="5" name="Rounded Rectangle 4"/>
          <p:cNvSpPr/>
          <p:nvPr/>
        </p:nvSpPr>
        <p:spPr>
          <a:xfrm>
            <a:off x="6355080" y="1417320"/>
            <a:ext cx="2743200" cy="169164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Category demand</a:t>
            </a:r>
          </a:p>
          <a:p>
            <a:pPr algn="ctr">
              <a:spcAft>
                <a:spcPts val="0"/>
              </a:spcAft>
            </a:pPr>
            <a:r>
              <a:rPr sz="1200" b="0">
                <a:solidFill>
                  <a:srgbClr val="FFFFFF"/>
                </a:solidFill>
                <a:latin typeface="Arial"/>
              </a:rPr>
              <a:t>buyers asking in your category</a:t>
            </a:r>
          </a:p>
        </p:txBody>
      </p:sp>
      <p:sp>
        <p:nvSpPr>
          <p:cNvPr id="6" name="Rounded Rectangle 5"/>
          <p:cNvSpPr/>
          <p:nvPr/>
        </p:nvSpPr>
        <p:spPr>
          <a:xfrm>
            <a:off x="9281160" y="1417320"/>
            <a:ext cx="2743200" cy="169164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Unused credits</a:t>
            </a:r>
          </a:p>
          <a:p>
            <a:pPr algn="ctr">
              <a:spcAft>
                <a:spcPts val="0"/>
              </a:spcAft>
            </a:pPr>
            <a:r>
              <a:rPr sz="1200" b="0">
                <a:solidFill>
                  <a:srgbClr val="FFFFFF"/>
                </a:solidFill>
                <a:latin typeface="Arial"/>
              </a:rPr>
              <a:t>paid for leads, not using them</a:t>
            </a:r>
          </a:p>
        </p:txBody>
      </p:sp>
      <p:sp>
        <p:nvSpPr>
          <p:cNvPr id="7" name="Rounded Rectangle 6"/>
          <p:cNvSpPr/>
          <p:nvPr/>
        </p:nvSpPr>
        <p:spPr>
          <a:xfrm>
            <a:off x="502920" y="3337560"/>
            <a:ext cx="2743200" cy="1691640"/>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Lead quality fix</a:t>
            </a:r>
          </a:p>
          <a:p>
            <a:pPr algn="ctr">
              <a:spcAft>
                <a:spcPts val="0"/>
              </a:spcAft>
            </a:pPr>
            <a:r>
              <a:rPr sz="1200" b="0">
                <a:solidFill>
                  <a:srgbClr val="FFFFFF"/>
                </a:solidFill>
                <a:latin typeface="Arial"/>
              </a:rPr>
              <a:t>set filters for the right buyers</a:t>
            </a:r>
          </a:p>
        </p:txBody>
      </p:sp>
      <p:sp>
        <p:nvSpPr>
          <p:cNvPr id="8" name="Rounded Rectangle 7"/>
          <p:cNvSpPr/>
          <p:nvPr/>
        </p:nvSpPr>
        <p:spPr>
          <a:xfrm>
            <a:off x="3429000" y="3337560"/>
            <a:ext cx="2743200" cy="1691640"/>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Enquiry drop</a:t>
            </a:r>
          </a:p>
          <a:p>
            <a:pPr algn="ctr">
              <a:spcAft>
                <a:spcPts val="0"/>
              </a:spcAft>
            </a:pPr>
            <a:r>
              <a:rPr sz="1200" b="0">
                <a:solidFill>
                  <a:srgbClr val="FFFFFF"/>
                </a:solidFill>
                <a:latin typeface="Arial"/>
              </a:rPr>
              <a:t>enquiries fell vs last quarter</a:t>
            </a:r>
          </a:p>
        </p:txBody>
      </p:sp>
      <p:sp>
        <p:nvSpPr>
          <p:cNvPr id="9" name="Rounded Rectangle 8"/>
          <p:cNvSpPr/>
          <p:nvPr/>
        </p:nvSpPr>
        <p:spPr>
          <a:xfrm>
            <a:off x="6355080" y="3337560"/>
            <a:ext cx="2743200" cy="1691640"/>
          </a:xfrm>
          <a:prstGeom prst="roundRect">
            <a:avLst>
              <a:gd name="adj" fmla="val 6000"/>
            </a:avLst>
          </a:prstGeom>
          <a:solidFill>
            <a:srgbClr val="1B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Peer usage</a:t>
            </a:r>
          </a:p>
          <a:p>
            <a:pPr algn="ctr">
              <a:spcAft>
                <a:spcPts val="0"/>
              </a:spcAft>
            </a:pPr>
            <a:r>
              <a:rPr sz="1200" b="0">
                <a:solidFill>
                  <a:srgbClr val="FFFFFF"/>
                </a:solidFill>
                <a:latin typeface="Arial"/>
              </a:rPr>
              <a:t>similar sellers buy leads</a:t>
            </a:r>
          </a:p>
        </p:txBody>
      </p:sp>
      <p:sp>
        <p:nvSpPr>
          <p:cNvPr id="10" name="Rounded Rectangle 9"/>
          <p:cNvSpPr/>
          <p:nvPr/>
        </p:nvSpPr>
        <p:spPr>
          <a:xfrm>
            <a:off x="9281160" y="3337560"/>
            <a:ext cx="2743200" cy="1691640"/>
          </a:xfrm>
          <a:prstGeom prst="roundRect">
            <a:avLst>
              <a:gd name="adj" fmla="val 6000"/>
            </a:avLst>
          </a:prstGeom>
          <a:solidFill>
            <a:srgbClr val="8A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600" b="1">
                <a:solidFill>
                  <a:srgbClr val="FFFFFF"/>
                </a:solidFill>
                <a:latin typeface="Arial"/>
              </a:rPr>
              <a:t>Resolve grievance</a:t>
            </a:r>
          </a:p>
          <a:p>
            <a:pPr algn="ctr">
              <a:spcAft>
                <a:spcPts val="0"/>
              </a:spcAft>
            </a:pPr>
            <a:r>
              <a:rPr sz="1200" b="0">
                <a:solidFill>
                  <a:srgbClr val="FFFFFF"/>
                </a:solidFill>
                <a:latin typeface="Arial"/>
              </a:rPr>
              <a:t>own the complaint first</a:t>
            </a:r>
          </a:p>
        </p:txBody>
      </p:sp>
      <p:sp>
        <p:nvSpPr>
          <p:cNvPr id="11" name="Rounded Rectangle 10"/>
          <p:cNvSpPr/>
          <p:nvPr/>
        </p:nvSpPr>
        <p:spPr>
          <a:xfrm>
            <a:off x="502920" y="5349240"/>
            <a:ext cx="11338560" cy="640080"/>
          </a:xfrm>
          <a:prstGeom prst="roundRect">
            <a:avLst>
              <a:gd name="adj" fmla="val 30000"/>
            </a:avLst>
          </a:prstGeom>
          <a:solidFill>
            <a:srgbClr val="EEF2F8"/>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400" b="1">
                <a:solidFill>
                  <a:srgbClr val="002060"/>
                </a:solidFill>
                <a:latin typeface="Arial"/>
              </a:rPr>
              <a:t>One main hook plus a backup per seller. Every number comes from the seller's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Call: Start, Mid-Call, End, Improve</a:t>
            </a:r>
          </a:p>
        </p:txBody>
      </p:sp>
      <p:sp>
        <p:nvSpPr>
          <p:cNvPr id="3" name="Rounded Rectangle 2"/>
          <p:cNvSpPr/>
          <p:nvPr/>
        </p:nvSpPr>
        <p:spPr>
          <a:xfrm>
            <a:off x="502920" y="1463040"/>
            <a:ext cx="2606040" cy="91440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800" b="1">
                <a:solidFill>
                  <a:srgbClr val="FFFFFF"/>
                </a:solidFill>
                <a:latin typeface="Arial"/>
              </a:rPr>
              <a:t>START</a:t>
            </a:r>
          </a:p>
          <a:p>
            <a:pPr algn="ctr">
              <a:spcAft>
                <a:spcPts val="0"/>
              </a:spcAft>
            </a:pPr>
            <a:r>
              <a:rPr sz="1200" b="0">
                <a:solidFill>
                  <a:srgbClr val="FFFFFF"/>
                </a:solidFill>
                <a:latin typeface="Arial"/>
              </a:rPr>
              <a:t>Persona is set</a:t>
            </a:r>
          </a:p>
        </p:txBody>
      </p:sp>
      <p:sp>
        <p:nvSpPr>
          <p:cNvPr id="4" name="Rounded Rectangle 3"/>
          <p:cNvSpPr/>
          <p:nvPr/>
        </p:nvSpPr>
        <p:spPr>
          <a:xfrm>
            <a:off x="502920" y="2468880"/>
            <a:ext cx="2606040"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marL="182880" indent="-164592">
              <a:spcAft>
                <a:spcPts val="600"/>
              </a:spcAft>
              <a:buChar char="•"/>
            </a:pPr>
            <a:r>
              <a:rPr sz="1300" b="0">
                <a:solidFill>
                  <a:srgbClr val="262626"/>
                </a:solidFill>
                <a:latin typeface="Arial"/>
              </a:rPr>
              <a:t>Voice, pace, pitch</a:t>
            </a:r>
          </a:p>
          <a:p>
            <a:pPr algn="l" marL="182880" indent="-164592">
              <a:spcAft>
                <a:spcPts val="600"/>
              </a:spcAft>
              <a:buChar char="•"/>
            </a:pPr>
            <a:r>
              <a:rPr sz="1300" b="0">
                <a:solidFill>
                  <a:srgbClr val="262626"/>
                </a:solidFill>
                <a:latin typeface="Arial"/>
              </a:rPr>
              <a:t>Start language</a:t>
            </a:r>
          </a:p>
          <a:p>
            <a:pPr algn="l" marL="182880" indent="-164592">
              <a:spcAft>
                <a:spcPts val="600"/>
              </a:spcAft>
              <a:buChar char="•"/>
            </a:pPr>
            <a:r>
              <a:rPr sz="1300" b="0">
                <a:solidFill>
                  <a:srgbClr val="262626"/>
                </a:solidFill>
                <a:latin typeface="Arial"/>
              </a:rPr>
              <a:t>Opening line and hook</a:t>
            </a:r>
          </a:p>
        </p:txBody>
      </p:sp>
      <p:sp>
        <p:nvSpPr>
          <p:cNvPr id="5" name="Right Arrow 4"/>
          <p:cNvSpPr/>
          <p:nvPr/>
        </p:nvSpPr>
        <p:spPr>
          <a:xfrm>
            <a:off x="3136391" y="1737360"/>
            <a:ext cx="292608"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429000" y="1463040"/>
            <a:ext cx="2606040" cy="91440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800" b="1">
                <a:solidFill>
                  <a:srgbClr val="FFFFFF"/>
                </a:solidFill>
                <a:latin typeface="Arial"/>
              </a:rPr>
              <a:t>MID-CALL</a:t>
            </a:r>
          </a:p>
          <a:p>
            <a:pPr algn="ctr">
              <a:spcAft>
                <a:spcPts val="0"/>
              </a:spcAft>
            </a:pPr>
            <a:r>
              <a:rPr sz="1200" b="0">
                <a:solidFill>
                  <a:srgbClr val="FFFFFF"/>
                </a:solidFill>
                <a:latin typeface="Arial"/>
              </a:rPr>
              <a:t>It listens every turn</a:t>
            </a:r>
          </a:p>
        </p:txBody>
      </p:sp>
      <p:sp>
        <p:nvSpPr>
          <p:cNvPr id="7" name="Rounded Rectangle 6"/>
          <p:cNvSpPr/>
          <p:nvPr/>
        </p:nvSpPr>
        <p:spPr>
          <a:xfrm>
            <a:off x="3429000" y="2468880"/>
            <a:ext cx="2606040"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marL="182880" indent="-164592">
              <a:spcAft>
                <a:spcPts val="600"/>
              </a:spcAft>
              <a:buChar char="•"/>
            </a:pPr>
            <a:r>
              <a:rPr sz="1300" b="0">
                <a:solidFill>
                  <a:srgbClr val="262626"/>
                </a:solidFill>
                <a:latin typeface="Arial"/>
              </a:rPr>
              <a:t>Rushed: shorter</a:t>
            </a:r>
          </a:p>
          <a:p>
            <a:pPr algn="l" marL="182880" indent="-164592">
              <a:spcAft>
                <a:spcPts val="600"/>
              </a:spcAft>
              <a:buChar char="•"/>
            </a:pPr>
            <a:r>
              <a:rPr sz="1300" b="0">
                <a:solidFill>
                  <a:srgbClr val="262626"/>
                </a:solidFill>
                <a:latin typeface="Arial"/>
              </a:rPr>
              <a:t>Confused: simpler</a:t>
            </a:r>
          </a:p>
          <a:p>
            <a:pPr algn="l" marL="182880" indent="-164592">
              <a:spcAft>
                <a:spcPts val="600"/>
              </a:spcAft>
              <a:buChar char="•"/>
            </a:pPr>
            <a:r>
              <a:rPr sz="1300" b="0">
                <a:solidFill>
                  <a:srgbClr val="262626"/>
                </a:solidFill>
                <a:latin typeface="Arial"/>
              </a:rPr>
              <a:t>Irritated: apologises</a:t>
            </a:r>
          </a:p>
          <a:p>
            <a:pPr algn="l" marL="182880" indent="-164592">
              <a:spcAft>
                <a:spcPts val="600"/>
              </a:spcAft>
              <a:buChar char="•"/>
            </a:pPr>
            <a:r>
              <a:rPr sz="1300" b="0">
                <a:solidFill>
                  <a:srgbClr val="262626"/>
                </a:solidFill>
                <a:latin typeface="Arial"/>
              </a:rPr>
              <a:t>Language switch: follows</a:t>
            </a:r>
          </a:p>
        </p:txBody>
      </p:sp>
      <p:sp>
        <p:nvSpPr>
          <p:cNvPr id="8" name="Right Arrow 7"/>
          <p:cNvSpPr/>
          <p:nvPr/>
        </p:nvSpPr>
        <p:spPr>
          <a:xfrm>
            <a:off x="6062472" y="1737360"/>
            <a:ext cx="292608"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1463040"/>
            <a:ext cx="2606040" cy="91440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800" b="1">
                <a:solidFill>
                  <a:srgbClr val="FFFFFF"/>
                </a:solidFill>
                <a:latin typeface="Arial"/>
              </a:rPr>
              <a:t>END</a:t>
            </a:r>
          </a:p>
          <a:p>
            <a:pPr algn="ctr">
              <a:spcAft>
                <a:spcPts val="0"/>
              </a:spcAft>
            </a:pPr>
            <a:r>
              <a:rPr sz="1200" b="0">
                <a:solidFill>
                  <a:srgbClr val="FFFFFF"/>
                </a:solidFill>
                <a:latin typeface="Arial"/>
              </a:rPr>
              <a:t>Meeting booked</a:t>
            </a:r>
          </a:p>
        </p:txBody>
      </p:sp>
      <p:sp>
        <p:nvSpPr>
          <p:cNvPr id="10" name="Rounded Rectangle 9"/>
          <p:cNvSpPr/>
          <p:nvPr/>
        </p:nvSpPr>
        <p:spPr>
          <a:xfrm>
            <a:off x="6355080" y="2468880"/>
            <a:ext cx="2606040"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marL="182880" indent="-164592">
              <a:spcAft>
                <a:spcPts val="600"/>
              </a:spcAft>
              <a:buChar char="•"/>
            </a:pPr>
            <a:r>
              <a:rPr sz="1300" b="0">
                <a:solidFill>
                  <a:srgbClr val="262626"/>
                </a:solidFill>
                <a:latin typeface="Arial"/>
              </a:rPr>
              <a:t>Day and time agreed</a:t>
            </a:r>
          </a:p>
          <a:p>
            <a:pPr algn="l" marL="182880" indent="-164592">
              <a:spcAft>
                <a:spcPts val="600"/>
              </a:spcAft>
              <a:buChar char="•"/>
            </a:pPr>
            <a:r>
              <a:rPr sz="1300" b="0">
                <a:solidFill>
                  <a:srgbClr val="262626"/>
                </a:solidFill>
                <a:latin typeface="Arial"/>
              </a:rPr>
              <a:t>With the sales handler, or our executive</a:t>
            </a:r>
          </a:p>
          <a:p>
            <a:pPr algn="l" marL="182880" indent="-164592">
              <a:spcAft>
                <a:spcPts val="600"/>
              </a:spcAft>
              <a:buChar char="•"/>
            </a:pPr>
            <a:r>
              <a:rPr sz="1300" b="0">
                <a:solidFill>
                  <a:srgbClr val="262626"/>
                </a:solidFill>
                <a:latin typeface="Arial"/>
              </a:rPr>
              <a:t>Then: anything else?</a:t>
            </a:r>
          </a:p>
          <a:p>
            <a:pPr algn="l" marL="182880" indent="-164592">
              <a:spcAft>
                <a:spcPts val="600"/>
              </a:spcAft>
              <a:buChar char="•"/>
            </a:pPr>
            <a:r>
              <a:rPr sz="1300" b="0">
                <a:solidFill>
                  <a:srgbClr val="262626"/>
                </a:solidFill>
                <a:latin typeface="Arial"/>
              </a:rPr>
              <a:t>Or a callback</a:t>
            </a:r>
          </a:p>
        </p:txBody>
      </p:sp>
      <p:sp>
        <p:nvSpPr>
          <p:cNvPr id="11" name="Right Arrow 10"/>
          <p:cNvSpPr/>
          <p:nvPr/>
        </p:nvSpPr>
        <p:spPr>
          <a:xfrm>
            <a:off x="8988552" y="1737360"/>
            <a:ext cx="292608"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81160" y="1463040"/>
            <a:ext cx="2606040" cy="91440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100"/>
              </a:spcAft>
            </a:pPr>
            <a:r>
              <a:rPr sz="1800" b="1">
                <a:solidFill>
                  <a:srgbClr val="FFFFFF"/>
                </a:solidFill>
                <a:latin typeface="Arial"/>
              </a:rPr>
              <a:t>IMPROVE</a:t>
            </a:r>
          </a:p>
          <a:p>
            <a:pPr algn="ctr">
              <a:spcAft>
                <a:spcPts val="0"/>
              </a:spcAft>
            </a:pPr>
            <a:r>
              <a:rPr sz="1200" b="0">
                <a:solidFill>
                  <a:srgbClr val="FFFFFF"/>
                </a:solidFill>
                <a:latin typeface="Arial"/>
              </a:rPr>
              <a:t>Every call teaches</a:t>
            </a:r>
          </a:p>
        </p:txBody>
      </p:sp>
      <p:sp>
        <p:nvSpPr>
          <p:cNvPr id="13" name="Rounded Rectangle 12"/>
          <p:cNvSpPr/>
          <p:nvPr/>
        </p:nvSpPr>
        <p:spPr>
          <a:xfrm>
            <a:off x="9281160" y="2468880"/>
            <a:ext cx="2606040"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marL="182880" indent="-164592">
              <a:spcAft>
                <a:spcPts val="600"/>
              </a:spcAft>
              <a:buChar char="•"/>
            </a:pPr>
            <a:r>
              <a:rPr sz="1300" b="0">
                <a:solidFill>
                  <a:srgbClr val="262626"/>
                </a:solidFill>
                <a:latin typeface="Arial"/>
              </a:rPr>
              <a:t>Review the call, rule checks R1-R6</a:t>
            </a:r>
          </a:p>
          <a:p>
            <a:pPr algn="l" marL="182880" indent="-164592">
              <a:spcAft>
                <a:spcPts val="600"/>
              </a:spcAft>
              <a:buChar char="•"/>
            </a:pPr>
            <a:r>
              <a:rPr sz="1300" b="0">
                <a:solidFill>
                  <a:srgbClr val="262626"/>
                </a:solidFill>
                <a:latin typeface="Arial"/>
              </a:rPr>
              <a:t>Score persona and hook</a:t>
            </a:r>
          </a:p>
          <a:p>
            <a:pPr algn="l" marL="182880" indent="-164592">
              <a:spcAft>
                <a:spcPts val="600"/>
              </a:spcAft>
              <a:buChar char="•"/>
            </a:pPr>
            <a:r>
              <a:rPr sz="1300" b="0">
                <a:solidFill>
                  <a:srgbClr val="262626"/>
                </a:solidFill>
                <a:latin typeface="Arial"/>
              </a:rPr>
              <a:t>Better pick next time</a:t>
            </a:r>
          </a:p>
        </p:txBody>
      </p:sp>
      <p:sp>
        <p:nvSpPr>
          <p:cNvPr id="14" name="Left Arrow 13"/>
          <p:cNvSpPr/>
          <p:nvPr/>
        </p:nvSpPr>
        <p:spPr>
          <a:xfrm>
            <a:off x="1463040" y="4754880"/>
            <a:ext cx="9144000" cy="548640"/>
          </a:xfrm>
          <a:prstGeom prst="leftArrow">
            <a:avLst/>
          </a:prstGeom>
          <a:solidFill>
            <a:srgbClr val="B9A7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4846320"/>
            <a:ext cx="7315200" cy="365760"/>
          </a:xfrm>
          <a:prstGeom prst="rect">
            <a:avLst/>
          </a:prstGeom>
          <a:noFill/>
        </p:spPr>
        <p:txBody>
          <a:bodyPr wrap="square">
            <a:spAutoFit/>
          </a:bodyPr>
          <a:lstStyle/>
          <a:p>
            <a:pPr algn="ctr">
              <a:spcAft>
                <a:spcPts val="0"/>
              </a:spcAft>
            </a:pPr>
            <a:r>
              <a:rPr sz="1400" b="1">
                <a:solidFill>
                  <a:srgbClr val="5B3E96"/>
                </a:solidFill>
                <a:latin typeface="Arial"/>
              </a:rPr>
              <a:t>The improvement loop feeds the next call's persona and hook</a:t>
            </a:r>
          </a:p>
        </p:txBody>
      </p:sp>
      <p:sp>
        <p:nvSpPr>
          <p:cNvPr id="16" name="Rounded Rectangle 15"/>
          <p:cNvSpPr/>
          <p:nvPr/>
        </p:nvSpPr>
        <p:spPr>
          <a:xfrm>
            <a:off x="502920" y="5440680"/>
            <a:ext cx="11338560" cy="594360"/>
          </a:xfrm>
          <a:prstGeom prst="roundRect">
            <a:avLst>
              <a:gd name="adj" fmla="val 30000"/>
            </a:avLst>
          </a:prstGeom>
          <a:solidFill>
            <a:srgbClr val="FFFFFF"/>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200" b="1">
                <a:solidFill>
                  <a:srgbClr val="002060"/>
                </a:solidFill>
                <a:latin typeface="Arial"/>
              </a:rPr>
              <a:t>Mood decision: instant keyword tool in-call, plus Jev decision model (6 mood questions, ~0.5 s) to label real calls and check the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Mid-Call: Same-Turn Adaptation</a:t>
            </a:r>
          </a:p>
        </p:txBody>
      </p:sp>
      <p:sp>
        <p:nvSpPr>
          <p:cNvPr id="3" name="Rounded Rectangle 2"/>
          <p:cNvSpPr/>
          <p:nvPr/>
        </p:nvSpPr>
        <p:spPr>
          <a:xfrm>
            <a:off x="566928" y="1371600"/>
            <a:ext cx="4754880" cy="621792"/>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0">
                <a:solidFill>
                  <a:srgbClr val="262626"/>
                </a:solidFill>
                <a:latin typeface="Arial"/>
              </a:rPr>
              <a:t>“Nahi chahiye”</a:t>
            </a:r>
          </a:p>
        </p:txBody>
      </p:sp>
      <p:sp>
        <p:nvSpPr>
          <p:cNvPr id="4" name="Right Arrow 3"/>
          <p:cNvSpPr/>
          <p:nvPr/>
        </p:nvSpPr>
        <p:spPr>
          <a:xfrm>
            <a:off x="5440680" y="1499616"/>
            <a:ext cx="457200" cy="36576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35040" y="1371600"/>
            <a:ext cx="5577840" cy="621792"/>
          </a:xfrm>
          <a:prstGeom prst="roundRect">
            <a:avLst>
              <a:gd name="adj" fmla="val 4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1">
                <a:solidFill>
                  <a:srgbClr val="FFFFFF"/>
                </a:solidFill>
                <a:latin typeface="Arial"/>
              </a:rPr>
              <a:t>Stays on the line, restates the hook</a:t>
            </a:r>
          </a:p>
        </p:txBody>
      </p:sp>
      <p:sp>
        <p:nvSpPr>
          <p:cNvPr id="6" name="Rounded Rectangle 5"/>
          <p:cNvSpPr/>
          <p:nvPr/>
        </p:nvSpPr>
        <p:spPr>
          <a:xfrm>
            <a:off x="566928" y="2130552"/>
            <a:ext cx="4754880" cy="621792"/>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0">
                <a:solidFill>
                  <a:srgbClr val="262626"/>
                </a:solidFill>
                <a:latin typeface="Arial"/>
              </a:rPr>
              <a:t>“I'm busy right now”</a:t>
            </a:r>
          </a:p>
        </p:txBody>
      </p:sp>
      <p:sp>
        <p:nvSpPr>
          <p:cNvPr id="7" name="Right Arrow 6"/>
          <p:cNvSpPr/>
          <p:nvPr/>
        </p:nvSpPr>
        <p:spPr>
          <a:xfrm>
            <a:off x="5440680" y="2258568"/>
            <a:ext cx="457200" cy="365760"/>
          </a:xfrm>
          <a:prstGeom prst="rightArrow">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35040" y="2130552"/>
            <a:ext cx="5577840" cy="621792"/>
          </a:xfrm>
          <a:prstGeom prst="roundRect">
            <a:avLst>
              <a:gd name="adj" fmla="val 4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1">
                <a:solidFill>
                  <a:srgbClr val="FFFFFF"/>
                </a:solidFill>
                <a:latin typeface="Arial"/>
              </a:rPr>
              <a:t>One short sentence, offers a callback</a:t>
            </a:r>
          </a:p>
        </p:txBody>
      </p:sp>
      <p:sp>
        <p:nvSpPr>
          <p:cNvPr id="9" name="Rounded Rectangle 8"/>
          <p:cNvSpPr/>
          <p:nvPr/>
        </p:nvSpPr>
        <p:spPr>
          <a:xfrm>
            <a:off x="566928" y="2889504"/>
            <a:ext cx="4754880" cy="621792"/>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0">
                <a:solidFill>
                  <a:srgbClr val="262626"/>
                </a:solidFill>
                <a:latin typeface="Arial"/>
              </a:rPr>
              <a:t>“Samajh nahi aaya”</a:t>
            </a:r>
          </a:p>
        </p:txBody>
      </p:sp>
      <p:sp>
        <p:nvSpPr>
          <p:cNvPr id="10" name="Right Arrow 9"/>
          <p:cNvSpPr/>
          <p:nvPr/>
        </p:nvSpPr>
        <p:spPr>
          <a:xfrm>
            <a:off x="5440680" y="3017520"/>
            <a:ext cx="457200" cy="365760"/>
          </a:xfrm>
          <a:prstGeom prst="rightArrow">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2889504"/>
            <a:ext cx="5577840" cy="621792"/>
          </a:xfrm>
          <a:prstGeom prst="roundRect">
            <a:avLst>
              <a:gd name="adj" fmla="val 40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1">
                <a:solidFill>
                  <a:srgbClr val="FFFFFF"/>
                </a:solidFill>
                <a:latin typeface="Arial"/>
              </a:rPr>
              <a:t>One idea, simple short phrases</a:t>
            </a:r>
          </a:p>
        </p:txBody>
      </p:sp>
      <p:sp>
        <p:nvSpPr>
          <p:cNvPr id="12" name="Rounded Rectangle 11"/>
          <p:cNvSpPr/>
          <p:nvPr/>
        </p:nvSpPr>
        <p:spPr>
          <a:xfrm>
            <a:off x="566928" y="3648456"/>
            <a:ext cx="4754880" cy="621792"/>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0">
                <a:solidFill>
                  <a:srgbClr val="262626"/>
                </a:solidFill>
                <a:latin typeface="Arial"/>
              </a:rPr>
              <a:t>“Kitni baar call karoge!”</a:t>
            </a:r>
          </a:p>
        </p:txBody>
      </p:sp>
      <p:sp>
        <p:nvSpPr>
          <p:cNvPr id="13" name="Right Arrow 12"/>
          <p:cNvSpPr/>
          <p:nvPr/>
        </p:nvSpPr>
        <p:spPr>
          <a:xfrm>
            <a:off x="5440680" y="3776472"/>
            <a:ext cx="457200" cy="365760"/>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35040" y="3648456"/>
            <a:ext cx="5577840" cy="621792"/>
          </a:xfrm>
          <a:prstGeom prst="roundRect">
            <a:avLst>
              <a:gd name="adj" fmla="val 4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1">
                <a:solidFill>
                  <a:srgbClr val="FFFFFF"/>
                </a:solidFill>
                <a:latin typeface="Arial"/>
              </a:rPr>
              <a:t>Brief apology, stops the pitch</a:t>
            </a:r>
          </a:p>
        </p:txBody>
      </p:sp>
      <p:sp>
        <p:nvSpPr>
          <p:cNvPr id="15" name="Rounded Rectangle 14"/>
          <p:cNvSpPr/>
          <p:nvPr/>
        </p:nvSpPr>
        <p:spPr>
          <a:xfrm>
            <a:off x="566928" y="4407408"/>
            <a:ext cx="4754880" cy="621792"/>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0">
                <a:solidFill>
                  <a:srgbClr val="262626"/>
                </a:solidFill>
                <a:latin typeface="Arial"/>
              </a:rPr>
              <a:t>Speaks Marathi, then Hindi</a:t>
            </a:r>
          </a:p>
        </p:txBody>
      </p:sp>
      <p:sp>
        <p:nvSpPr>
          <p:cNvPr id="16" name="Right Arrow 15"/>
          <p:cNvSpPr/>
          <p:nvPr/>
        </p:nvSpPr>
        <p:spPr>
          <a:xfrm>
            <a:off x="5440680" y="4535424"/>
            <a:ext cx="457200" cy="365760"/>
          </a:xfrm>
          <a:prstGeom prst="rightArrow">
            <a:avLst/>
          </a:prstGeom>
          <a:solidFill>
            <a:srgbClr val="5B3E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35040" y="4407408"/>
            <a:ext cx="5577840" cy="621792"/>
          </a:xfrm>
          <a:prstGeom prst="roundRect">
            <a:avLst>
              <a:gd name="adj" fmla="val 40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1">
                <a:solidFill>
                  <a:srgbClr val="FFFFFF"/>
                </a:solidFill>
                <a:latin typeface="Arial"/>
              </a:rPr>
              <a:t>Replies in the seller's language</a:t>
            </a:r>
          </a:p>
        </p:txBody>
      </p:sp>
      <p:sp>
        <p:nvSpPr>
          <p:cNvPr id="18" name="Rounded Rectangle 17"/>
          <p:cNvSpPr/>
          <p:nvPr/>
        </p:nvSpPr>
        <p:spPr>
          <a:xfrm>
            <a:off x="566928" y="5166359"/>
            <a:ext cx="4754880" cy="621792"/>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0">
                <a:solidFill>
                  <a:srgbClr val="262626"/>
                </a:solidFill>
                <a:latin typeface="Arial"/>
              </a:rPr>
              <a:t>“Who handles my account?”</a:t>
            </a:r>
          </a:p>
        </p:txBody>
      </p:sp>
      <p:sp>
        <p:nvSpPr>
          <p:cNvPr id="19" name="Right Arrow 18"/>
          <p:cNvSpPr/>
          <p:nvPr/>
        </p:nvSpPr>
        <p:spPr>
          <a:xfrm>
            <a:off x="5440680" y="5294375"/>
            <a:ext cx="457200" cy="365760"/>
          </a:xfrm>
          <a:prstGeom prst="rightArrow">
            <a:avLst/>
          </a:prstGeom>
          <a:solidFill>
            <a:srgbClr val="1B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35040" y="5166359"/>
            <a:ext cx="5577840" cy="621792"/>
          </a:xfrm>
          <a:prstGeom prst="roundRect">
            <a:avLst>
              <a:gd name="adj" fmla="val 40000"/>
            </a:avLst>
          </a:prstGeom>
          <a:solidFill>
            <a:srgbClr val="1B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0"/>
              </a:spcAft>
            </a:pPr>
            <a:r>
              <a:rPr sz="1400" b="1">
                <a:solidFill>
                  <a:srgbClr val="FFFFFF"/>
                </a:solidFill>
                <a:latin typeface="Arial"/>
              </a:rPr>
              <a:t>Names the handler and books with them; a team if none</a:t>
            </a:r>
          </a:p>
        </p:txBody>
      </p:sp>
      <p:sp>
        <p:nvSpPr>
          <p:cNvPr id="21" name="TextBox 20"/>
          <p:cNvSpPr txBox="1"/>
          <p:nvPr/>
        </p:nvSpPr>
        <p:spPr>
          <a:xfrm>
            <a:off x="566928" y="5943600"/>
            <a:ext cx="5486400" cy="274320"/>
          </a:xfrm>
          <a:prstGeom prst="rect">
            <a:avLst/>
          </a:prstGeom>
          <a:noFill/>
        </p:spPr>
        <p:txBody>
          <a:bodyPr wrap="square">
            <a:spAutoFit/>
          </a:bodyPr>
          <a:lstStyle/>
          <a:p>
            <a:pPr algn="l">
              <a:spcAft>
                <a:spcPts val="0"/>
              </a:spcAft>
            </a:pPr>
            <a:r>
              <a:rPr sz="1100" b="1">
                <a:solidFill>
                  <a:srgbClr val="595959"/>
                </a:solidFill>
                <a:latin typeface="Arial"/>
              </a:rPr>
              <a:t>SELLER SAYS</a:t>
            </a:r>
          </a:p>
        </p:txBody>
      </p:sp>
      <p:sp>
        <p:nvSpPr>
          <p:cNvPr id="22" name="TextBox 21"/>
          <p:cNvSpPr txBox="1"/>
          <p:nvPr/>
        </p:nvSpPr>
        <p:spPr>
          <a:xfrm>
            <a:off x="6035040" y="5943600"/>
            <a:ext cx="5486400" cy="274320"/>
          </a:xfrm>
          <a:prstGeom prst="rect">
            <a:avLst/>
          </a:prstGeom>
          <a:noFill/>
        </p:spPr>
        <p:txBody>
          <a:bodyPr wrap="square">
            <a:spAutoFit/>
          </a:bodyPr>
          <a:lstStyle/>
          <a:p>
            <a:pPr algn="l">
              <a:spcAft>
                <a:spcPts val="0"/>
              </a:spcAft>
            </a:pPr>
            <a:r>
              <a:rPr sz="1100" b="1">
                <a:solidFill>
                  <a:srgbClr val="002060"/>
                </a:solidFill>
                <a:latin typeface="Arial"/>
              </a:rPr>
              <a:t>VANI DOES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Mood Engine: Two Layers</a:t>
            </a:r>
          </a:p>
        </p:txBody>
      </p:sp>
      <p:sp>
        <p:nvSpPr>
          <p:cNvPr id="3" name="Rounded Rectangle 2"/>
          <p:cNvSpPr/>
          <p:nvPr/>
        </p:nvSpPr>
        <p:spPr>
          <a:xfrm>
            <a:off x="502920" y="2743200"/>
            <a:ext cx="2103120" cy="1097280"/>
          </a:xfrm>
          <a:prstGeom prst="roundRect">
            <a:avLst>
              <a:gd name="adj" fmla="val 40000"/>
            </a:avLst>
          </a:prstGeom>
          <a:solidFill>
            <a:srgbClr val="EEF2F8"/>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002060"/>
                </a:solidFill>
                <a:latin typeface="Arial"/>
              </a:rPr>
              <a:t>Seller turn</a:t>
            </a:r>
          </a:p>
          <a:p>
            <a:pPr algn="ctr">
              <a:spcAft>
                <a:spcPts val="0"/>
              </a:spcAft>
            </a:pPr>
            <a:r>
              <a:rPr sz="1100" b="0">
                <a:solidFill>
                  <a:srgbClr val="595959"/>
                </a:solidFill>
                <a:latin typeface="Arial"/>
              </a:rPr>
              <a:t>what was just said</a:t>
            </a:r>
          </a:p>
        </p:txBody>
      </p:sp>
      <p:sp>
        <p:nvSpPr>
          <p:cNvPr id="4" name="Right Arrow 3"/>
          <p:cNvSpPr/>
          <p:nvPr/>
        </p:nvSpPr>
        <p:spPr>
          <a:xfrm>
            <a:off x="2651760" y="1965960"/>
            <a:ext cx="457200" cy="365760"/>
          </a:xfrm>
          <a:prstGeom prst="rightArrow">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2651760" y="4069080"/>
            <a:ext cx="457200" cy="365760"/>
          </a:xfrm>
          <a:prstGeom prst="rightArrow">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1371600"/>
            <a:ext cx="4480560" cy="173736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700" b="1">
                <a:solidFill>
                  <a:srgbClr val="FFFFFF"/>
                </a:solidFill>
                <a:latin typeface="Arial"/>
              </a:rPr>
              <a:t>Keyword tool: instant</a:t>
            </a:r>
          </a:p>
          <a:p>
            <a:pPr algn="l">
              <a:spcAft>
                <a:spcPts val="200"/>
              </a:spcAft>
            </a:pPr>
            <a:r>
              <a:rPr sz="1200" b="0">
                <a:solidFill>
                  <a:srgbClr val="FFFFFF"/>
                </a:solidFill>
                <a:latin typeface="Arial"/>
              </a:rPr>
              <a:t>Reads Hindi, Hinglish, Marathi, Telugu and more</a:t>
            </a:r>
          </a:p>
          <a:p>
            <a:pPr algn="l">
              <a:spcAft>
                <a:spcPts val="0"/>
              </a:spcAft>
            </a:pPr>
            <a:r>
              <a:rPr sz="1200" b="0">
                <a:solidFill>
                  <a:srgbClr val="FFFFFF"/>
                </a:solidFill>
                <a:latin typeface="Arial"/>
              </a:rPr>
              <a:t>Under 1 ms, same-turn directive</a:t>
            </a:r>
          </a:p>
        </p:txBody>
      </p:sp>
      <p:sp>
        <p:nvSpPr>
          <p:cNvPr id="7" name="Rounded Rectangle 6"/>
          <p:cNvSpPr/>
          <p:nvPr/>
        </p:nvSpPr>
        <p:spPr>
          <a:xfrm>
            <a:off x="3200400" y="3474720"/>
            <a:ext cx="4480560" cy="173736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700" b="1">
                <a:solidFill>
                  <a:srgbClr val="FFFFFF"/>
                </a:solidFill>
                <a:latin typeface="Arial"/>
              </a:rPr>
              <a:t>Jev decision model: after the call</a:t>
            </a:r>
          </a:p>
          <a:p>
            <a:pPr algn="l">
              <a:spcAft>
                <a:spcPts val="200"/>
              </a:spcAft>
            </a:pPr>
            <a:r>
              <a:rPr sz="1200" b="0">
                <a:solidFill>
                  <a:srgbClr val="FFFFFF"/>
                </a:solidFill>
                <a:latin typeface="Arial"/>
              </a:rPr>
              <a:t>Judges the same turns on real calls: 6 mood questions at once</a:t>
            </a:r>
          </a:p>
          <a:p>
            <a:pPr algn="l">
              <a:spcAft>
                <a:spcPts val="0"/>
              </a:spcAft>
            </a:pPr>
            <a:r>
              <a:rPr sz="1200" b="0">
                <a:solidFill>
                  <a:srgbClr val="FFFFFF"/>
                </a:solidFill>
                <a:latin typeface="Arial"/>
              </a:rPr>
              <a:t>49 of 51 correct in tests; tested live via a relay</a:t>
            </a:r>
          </a:p>
        </p:txBody>
      </p:sp>
      <p:sp>
        <p:nvSpPr>
          <p:cNvPr id="8" name="Right Arrow 7"/>
          <p:cNvSpPr/>
          <p:nvPr/>
        </p:nvSpPr>
        <p:spPr>
          <a:xfrm>
            <a:off x="7772400" y="2011680"/>
            <a:ext cx="457200" cy="365760"/>
          </a:xfrm>
          <a:prstGeom prst="rightArrow">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772400" y="4114800"/>
            <a:ext cx="457200" cy="365760"/>
          </a:xfrm>
          <a:prstGeom prst="rightArrow">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321040" y="1371600"/>
            <a:ext cx="3383280" cy="173736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1600" b="1">
                <a:solidFill>
                  <a:srgbClr val="FFFFFF"/>
                </a:solidFill>
                <a:latin typeface="Arial"/>
              </a:rPr>
              <a:t>MODE + DIRECTIVE</a:t>
            </a:r>
          </a:p>
          <a:p>
            <a:pPr algn="ctr">
              <a:spcAft>
                <a:spcPts val="400"/>
              </a:spcAft>
            </a:pPr>
            <a:r>
              <a:rPr sz="1100" b="0">
                <a:solidFill>
                  <a:srgbClr val="FFFFFF"/>
                </a:solidFill>
                <a:latin typeface="Arial"/>
              </a:rPr>
              <a:t>in the call, same turn</a:t>
            </a:r>
          </a:p>
          <a:p>
            <a:pPr algn="ctr">
              <a:spcAft>
                <a:spcPts val="0"/>
              </a:spcAft>
            </a:pPr>
            <a:r>
              <a:rPr sz="1200" b="1">
                <a:solidFill>
                  <a:srgbClr val="FFFFFF"/>
                </a:solidFill>
                <a:latin typeface="Arial"/>
              </a:rPr>
              <a:t>VANI changes how it speaks</a:t>
            </a:r>
          </a:p>
        </p:txBody>
      </p:sp>
      <p:sp>
        <p:nvSpPr>
          <p:cNvPr id="11" name="Rounded Rectangle 10"/>
          <p:cNvSpPr/>
          <p:nvPr/>
        </p:nvSpPr>
        <p:spPr>
          <a:xfrm>
            <a:off x="8321040" y="3474720"/>
            <a:ext cx="3383280" cy="173736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1600" b="1">
                <a:solidFill>
                  <a:srgbClr val="FFFFFF"/>
                </a:solidFill>
                <a:latin typeface="Arial"/>
              </a:rPr>
              <a:t>LABELS</a:t>
            </a:r>
          </a:p>
          <a:p>
            <a:pPr algn="ctr">
              <a:spcAft>
                <a:spcPts val="400"/>
              </a:spcAft>
            </a:pPr>
            <a:r>
              <a:rPr sz="1100" b="0">
                <a:solidFill>
                  <a:srgbClr val="FFFFFF"/>
                </a:solidFill>
                <a:latin typeface="Arial"/>
              </a:rPr>
              <a:t>after the call</a:t>
            </a:r>
          </a:p>
          <a:p>
            <a:pPr algn="ctr">
              <a:spcAft>
                <a:spcPts val="0"/>
              </a:spcAft>
            </a:pPr>
            <a:r>
              <a:rPr sz="1200" b="1">
                <a:solidFill>
                  <a:srgbClr val="FFFFFF"/>
                </a:solidFill>
                <a:latin typeface="Arial"/>
              </a:rPr>
              <a:t>score and improve the keyword tool</a:t>
            </a:r>
          </a:p>
        </p:txBody>
      </p:sp>
      <p:sp>
        <p:nvSpPr>
          <p:cNvPr id="12" name="Rounded Rectangle 11"/>
          <p:cNvSpPr/>
          <p:nvPr/>
        </p:nvSpPr>
        <p:spPr>
          <a:xfrm>
            <a:off x="502920" y="5440680"/>
            <a:ext cx="11338560" cy="548640"/>
          </a:xfrm>
          <a:prstGeom prst="roundRect">
            <a:avLst>
              <a:gd name="adj" fmla="val 30000"/>
            </a:avLst>
          </a:prstGeom>
          <a:solidFill>
            <a:srgbClr val="EEF2F8"/>
          </a:solidFill>
          <a:ln w="12700">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300" b="1">
                <a:solidFill>
                  <a:srgbClr val="5B3E96"/>
                </a:solidFill>
                <a:latin typeface="Arial"/>
              </a:rPr>
              <a:t>Keyword tool answers in the call; Jev judges the same turns after the call and teaches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Improvement Loop</a:t>
            </a:r>
          </a:p>
        </p:txBody>
      </p:sp>
      <p:sp>
        <p:nvSpPr>
          <p:cNvPr id="3" name="Rounded Rectangle 2"/>
          <p:cNvSpPr/>
          <p:nvPr/>
        </p:nvSpPr>
        <p:spPr>
          <a:xfrm>
            <a:off x="4754880" y="1371600"/>
            <a:ext cx="2743200" cy="96012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1  CALL</a:t>
            </a:r>
          </a:p>
          <a:p>
            <a:pPr algn="ctr">
              <a:spcAft>
                <a:spcPts val="0"/>
              </a:spcAft>
            </a:pPr>
            <a:r>
              <a:rPr sz="1100" b="0">
                <a:solidFill>
                  <a:srgbClr val="FFFFFF"/>
                </a:solidFill>
                <a:latin typeface="Arial"/>
              </a:rPr>
              <a:t>persona set, live adaptation</a:t>
            </a:r>
          </a:p>
        </p:txBody>
      </p:sp>
      <p:sp>
        <p:nvSpPr>
          <p:cNvPr id="4" name="Rounded Rectangle 3"/>
          <p:cNvSpPr/>
          <p:nvPr/>
        </p:nvSpPr>
        <p:spPr>
          <a:xfrm>
            <a:off x="8229600" y="2468880"/>
            <a:ext cx="2743200" cy="96012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2  REVIEW</a:t>
            </a:r>
          </a:p>
          <a:p>
            <a:pPr algn="ctr">
              <a:spcAft>
                <a:spcPts val="0"/>
              </a:spcAft>
            </a:pPr>
            <a:r>
              <a:rPr sz="1100" b="0">
                <a:solidFill>
                  <a:srgbClr val="FFFFFF"/>
                </a:solidFill>
                <a:latin typeface="Arial"/>
              </a:rPr>
              <a:t>Claude + rule checks R1-R6</a:t>
            </a:r>
          </a:p>
        </p:txBody>
      </p:sp>
      <p:sp>
        <p:nvSpPr>
          <p:cNvPr id="5" name="Rounded Rectangle 4"/>
          <p:cNvSpPr/>
          <p:nvPr/>
        </p:nvSpPr>
        <p:spPr>
          <a:xfrm>
            <a:off x="7406640" y="4297680"/>
            <a:ext cx="2743200" cy="960120"/>
          </a:xfrm>
          <a:prstGeom prst="roundRect">
            <a:avLst>
              <a:gd name="adj" fmla="val 6000"/>
            </a:avLst>
          </a:prstGeom>
          <a:solidFill>
            <a:srgbClr val="1B6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3  LABEL</a:t>
            </a:r>
          </a:p>
          <a:p>
            <a:pPr algn="ctr">
              <a:spcAft>
                <a:spcPts val="0"/>
              </a:spcAft>
            </a:pPr>
            <a:r>
              <a:rPr sz="1100" b="0">
                <a:solidFill>
                  <a:srgbClr val="FFFFFF"/>
                </a:solidFill>
                <a:latin typeface="Arial"/>
              </a:rPr>
              <a:t>Jev labels real turns</a:t>
            </a:r>
          </a:p>
        </p:txBody>
      </p:sp>
      <p:sp>
        <p:nvSpPr>
          <p:cNvPr id="6" name="Rounded Rectangle 5"/>
          <p:cNvSpPr/>
          <p:nvPr/>
        </p:nvSpPr>
        <p:spPr>
          <a:xfrm>
            <a:off x="2377440" y="4297680"/>
            <a:ext cx="2743200" cy="96012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4  SCORE</a:t>
            </a:r>
          </a:p>
          <a:p>
            <a:pPr algn="ctr">
              <a:spcAft>
                <a:spcPts val="0"/>
              </a:spcAft>
            </a:pPr>
            <a:r>
              <a:rPr sz="1100" b="0">
                <a:solidFill>
                  <a:srgbClr val="FFFFFF"/>
                </a:solidFill>
                <a:latin typeface="Arial"/>
              </a:rPr>
              <a:t>persona, hook, each field</a:t>
            </a:r>
          </a:p>
        </p:txBody>
      </p:sp>
      <p:sp>
        <p:nvSpPr>
          <p:cNvPr id="7" name="Rounded Rectangle 6"/>
          <p:cNvSpPr/>
          <p:nvPr/>
        </p:nvSpPr>
        <p:spPr>
          <a:xfrm>
            <a:off x="1280160" y="2468880"/>
            <a:ext cx="2743200" cy="96012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500" b="1">
                <a:solidFill>
                  <a:srgbClr val="FFFFFF"/>
                </a:solidFill>
                <a:latin typeface="Arial"/>
              </a:rPr>
              <a:t>5  UPDATE</a:t>
            </a:r>
          </a:p>
          <a:p>
            <a:pPr algn="ctr">
              <a:spcAft>
                <a:spcPts val="0"/>
              </a:spcAft>
            </a:pPr>
            <a:r>
              <a:rPr sz="1100" b="0">
                <a:solidFill>
                  <a:srgbClr val="FFFFFF"/>
                </a:solidFill>
                <a:latin typeface="Arial"/>
              </a:rPr>
              <a:t>scoreboards by seller segment</a:t>
            </a:r>
          </a:p>
        </p:txBody>
      </p:sp>
      <p:sp>
        <p:nvSpPr>
          <p:cNvPr id="8" name="Right Arrow 7"/>
          <p:cNvSpPr/>
          <p:nvPr/>
        </p:nvSpPr>
        <p:spPr>
          <a:xfrm>
            <a:off x="7635240" y="1645920"/>
            <a:ext cx="502920" cy="41148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wn Arrow 8"/>
          <p:cNvSpPr/>
          <p:nvPr/>
        </p:nvSpPr>
        <p:spPr>
          <a:xfrm>
            <a:off x="9326880" y="3520440"/>
            <a:ext cx="411480" cy="640080"/>
          </a:xfrm>
          <a:prstGeom prst="down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ft Arrow 9"/>
          <p:cNvSpPr/>
          <p:nvPr/>
        </p:nvSpPr>
        <p:spPr>
          <a:xfrm>
            <a:off x="5577840" y="4572000"/>
            <a:ext cx="1737360" cy="411480"/>
          </a:xfrm>
          <a:prstGeom prst="lef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Up Arrow 10"/>
          <p:cNvSpPr/>
          <p:nvPr/>
        </p:nvSpPr>
        <p:spPr>
          <a:xfrm>
            <a:off x="2651760" y="3520440"/>
            <a:ext cx="411480" cy="640080"/>
          </a:xfrm>
          <a:prstGeom prst="up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3931920" y="1645920"/>
            <a:ext cx="731520" cy="41148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9160" y="2697480"/>
            <a:ext cx="1920240" cy="1920240"/>
          </a:xfrm>
          <a:prstGeom prst="ellipse">
            <a:avLst/>
          </a:prstGeom>
          <a:solidFill>
            <a:srgbClr val="EEF2F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300" b="1">
                <a:solidFill>
                  <a:srgbClr val="002060"/>
                </a:solidFill>
                <a:latin typeface="Arial"/>
              </a:rPr>
              <a:t>Better persona and hook next call</a:t>
            </a:r>
          </a:p>
        </p:txBody>
      </p:sp>
      <p:sp>
        <p:nvSpPr>
          <p:cNvPr id="14" name="Rounded Rectangle 13"/>
          <p:cNvSpPr/>
          <p:nvPr/>
        </p:nvSpPr>
        <p:spPr>
          <a:xfrm>
            <a:off x="502920" y="5486400"/>
            <a:ext cx="11338560" cy="548640"/>
          </a:xfrm>
          <a:prstGeom prst="roundRect">
            <a:avLst>
              <a:gd name="adj" fmla="val 30000"/>
            </a:avLst>
          </a:prstGeom>
          <a:solidFill>
            <a:srgbClr val="FFFFFF"/>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100" b="1">
                <a:solidFill>
                  <a:srgbClr val="002060"/>
                </a:solidFill>
                <a:latin typeface="Arial"/>
              </a:rPr>
              <a:t>Tracked: uplift vs the control persona (15% of calls), meeting rate by reason type, keyword fixes only after a gold-set check and a human approval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Architecture</a:t>
            </a:r>
          </a:p>
        </p:txBody>
      </p:sp>
      <p:sp>
        <p:nvSpPr>
          <p:cNvPr id="3" name="Rounded Rectangle 2"/>
          <p:cNvSpPr/>
          <p:nvPr/>
        </p:nvSpPr>
        <p:spPr>
          <a:xfrm>
            <a:off x="502920" y="1463040"/>
            <a:ext cx="2514600" cy="141732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Seller data</a:t>
            </a:r>
          </a:p>
          <a:p>
            <a:pPr algn="l">
              <a:spcAft>
                <a:spcPts val="0"/>
              </a:spcAft>
            </a:pPr>
            <a:r>
              <a:rPr sz="1200" b="0">
                <a:solidFill>
                  <a:srgbClr val="FFFFFF"/>
                </a:solidFill>
                <a:latin typeface="Arial"/>
              </a:rPr>
              <a:t>files, APIs, buy-lead database</a:t>
            </a:r>
          </a:p>
        </p:txBody>
      </p:sp>
      <p:sp>
        <p:nvSpPr>
          <p:cNvPr id="4" name="Right Arrow 3"/>
          <p:cNvSpPr/>
          <p:nvPr/>
        </p:nvSpPr>
        <p:spPr>
          <a:xfrm>
            <a:off x="3044952" y="1965960"/>
            <a:ext cx="347472"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429000" y="1463040"/>
            <a:ext cx="2514600" cy="141732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Context builder</a:t>
            </a:r>
          </a:p>
          <a:p>
            <a:pPr algn="l">
              <a:spcAft>
                <a:spcPts val="0"/>
              </a:spcAft>
            </a:pPr>
            <a:r>
              <a:rPr sz="1200" b="0">
                <a:solidFill>
                  <a:srgbClr val="FFFFFF"/>
                </a:solidFill>
                <a:latin typeface="Arial"/>
              </a:rPr>
              <a:t>one folder per seller</a:t>
            </a:r>
          </a:p>
        </p:txBody>
      </p:sp>
      <p:sp>
        <p:nvSpPr>
          <p:cNvPr id="6" name="Right Arrow 5"/>
          <p:cNvSpPr/>
          <p:nvPr/>
        </p:nvSpPr>
        <p:spPr>
          <a:xfrm>
            <a:off x="5971031" y="1965960"/>
            <a:ext cx="347472"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55080" y="1463040"/>
            <a:ext cx="2514600" cy="141732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Safe export</a:t>
            </a:r>
          </a:p>
          <a:p>
            <a:pPr algn="l">
              <a:spcAft>
                <a:spcPts val="0"/>
              </a:spcAft>
            </a:pPr>
            <a:r>
              <a:rPr sz="1200" b="0">
                <a:solidFill>
                  <a:srgbClr val="FFFFFF"/>
                </a:solidFill>
                <a:latin typeface="Arial"/>
              </a:rPr>
              <a:t>names become tokens</a:t>
            </a:r>
          </a:p>
        </p:txBody>
      </p:sp>
      <p:sp>
        <p:nvSpPr>
          <p:cNvPr id="8" name="Right Arrow 7"/>
          <p:cNvSpPr/>
          <p:nvPr/>
        </p:nvSpPr>
        <p:spPr>
          <a:xfrm>
            <a:off x="8897112" y="1965960"/>
            <a:ext cx="347472" cy="36576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81160" y="1463040"/>
            <a:ext cx="2514600" cy="141732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Persona agent</a:t>
            </a:r>
          </a:p>
          <a:p>
            <a:pPr algn="l">
              <a:spcAft>
                <a:spcPts val="0"/>
              </a:spcAft>
            </a:pPr>
            <a:r>
              <a:rPr sz="1200" b="0">
                <a:solidFill>
                  <a:srgbClr val="FFFFFF"/>
                </a:solidFill>
                <a:latin typeface="Arial"/>
              </a:rPr>
              <a:t>Claude in a sandbox, every choice cited</a:t>
            </a:r>
          </a:p>
        </p:txBody>
      </p:sp>
      <p:sp>
        <p:nvSpPr>
          <p:cNvPr id="10" name="Rounded Rectangle 9"/>
          <p:cNvSpPr/>
          <p:nvPr/>
        </p:nvSpPr>
        <p:spPr>
          <a:xfrm>
            <a:off x="9281160" y="3291840"/>
            <a:ext cx="2514600" cy="141732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Sarvam voice agent</a:t>
            </a:r>
          </a:p>
          <a:p>
            <a:pPr algn="l">
              <a:spcAft>
                <a:spcPts val="0"/>
              </a:spcAft>
            </a:pPr>
            <a:r>
              <a:rPr sz="1200" b="0">
                <a:solidFill>
                  <a:srgbClr val="FFFFFF"/>
                </a:solidFill>
                <a:latin typeface="Arial"/>
              </a:rPr>
              <a:t>voice, pace, language, opening</a:t>
            </a:r>
          </a:p>
        </p:txBody>
      </p:sp>
      <p:sp>
        <p:nvSpPr>
          <p:cNvPr id="11" name="Left Arrow 10"/>
          <p:cNvSpPr/>
          <p:nvPr/>
        </p:nvSpPr>
        <p:spPr>
          <a:xfrm>
            <a:off x="8887968" y="3794760"/>
            <a:ext cx="347472" cy="365760"/>
          </a:xfrm>
          <a:prstGeom prst="lef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0" y="3291840"/>
            <a:ext cx="2514600" cy="1417320"/>
          </a:xfrm>
          <a:prstGeom prst="roundRect">
            <a:avLst>
              <a:gd name="adj" fmla="val 6000"/>
            </a:avLst>
          </a:prstGeom>
          <a:solidFill>
            <a:srgbClr val="2EA8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Live adaptation</a:t>
            </a:r>
          </a:p>
          <a:p>
            <a:pPr algn="l">
              <a:spcAft>
                <a:spcPts val="0"/>
              </a:spcAft>
            </a:pPr>
            <a:r>
              <a:rPr sz="1200" b="0">
                <a:solidFill>
                  <a:srgbClr val="FFFFFF"/>
                </a:solidFill>
                <a:latin typeface="Arial"/>
              </a:rPr>
              <a:t>mood to directive each turn</a:t>
            </a:r>
          </a:p>
        </p:txBody>
      </p:sp>
      <p:sp>
        <p:nvSpPr>
          <p:cNvPr id="13" name="Left Arrow 12"/>
          <p:cNvSpPr/>
          <p:nvPr/>
        </p:nvSpPr>
        <p:spPr>
          <a:xfrm>
            <a:off x="5961888" y="3794760"/>
            <a:ext cx="347472" cy="365760"/>
          </a:xfrm>
          <a:prstGeom prst="lef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3291840"/>
            <a:ext cx="2514600" cy="141732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Call review</a:t>
            </a:r>
          </a:p>
          <a:p>
            <a:pPr algn="l">
              <a:spcAft>
                <a:spcPts val="0"/>
              </a:spcAft>
            </a:pPr>
            <a:r>
              <a:rPr sz="1200" b="0">
                <a:solidFill>
                  <a:srgbClr val="FFFFFF"/>
                </a:solidFill>
                <a:latin typeface="Arial"/>
              </a:rPr>
              <a:t>Claude checks fit and rules</a:t>
            </a:r>
          </a:p>
        </p:txBody>
      </p:sp>
      <p:sp>
        <p:nvSpPr>
          <p:cNvPr id="15" name="Left Arrow 14"/>
          <p:cNvSpPr/>
          <p:nvPr/>
        </p:nvSpPr>
        <p:spPr>
          <a:xfrm>
            <a:off x="3035808" y="3794760"/>
            <a:ext cx="347472" cy="365760"/>
          </a:xfrm>
          <a:prstGeom prst="lef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3291840"/>
            <a:ext cx="2514600" cy="1417320"/>
          </a:xfrm>
          <a:prstGeom prst="roundRect">
            <a:avLst>
              <a:gd name="adj" fmla="val 6000"/>
            </a:avLst>
          </a:prstGeom>
          <a:solidFill>
            <a:srgbClr val="5B3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spcAft>
                <a:spcPts val="300"/>
              </a:spcAft>
            </a:pPr>
            <a:r>
              <a:rPr sz="1500" b="1">
                <a:solidFill>
                  <a:srgbClr val="FFFFFF"/>
                </a:solidFill>
                <a:latin typeface="Arial"/>
              </a:rPr>
              <a:t>Learning loops</a:t>
            </a:r>
          </a:p>
          <a:p>
            <a:pPr algn="l">
              <a:spcAft>
                <a:spcPts val="0"/>
              </a:spcAft>
            </a:pPr>
            <a:r>
              <a:rPr sz="1200" b="0">
                <a:solidFill>
                  <a:srgbClr val="FFFFFF"/>
                </a:solidFill>
                <a:latin typeface="Arial"/>
              </a:rPr>
              <a:t>better persona and hook next call</a:t>
            </a:r>
          </a:p>
        </p:txBody>
      </p:sp>
      <p:sp>
        <p:nvSpPr>
          <p:cNvPr id="17" name="Down Arrow 16"/>
          <p:cNvSpPr/>
          <p:nvPr/>
        </p:nvSpPr>
        <p:spPr>
          <a:xfrm>
            <a:off x="10012680" y="2926080"/>
            <a:ext cx="365760" cy="347472"/>
          </a:xfrm>
          <a:prstGeom prst="down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2920" y="5212080"/>
            <a:ext cx="11338560" cy="731520"/>
          </a:xfrm>
          <a:prstGeom prst="roundRect">
            <a:avLst>
              <a:gd name="adj" fmla="val 6000"/>
            </a:avLst>
          </a:prstGeom>
          <a:solidFill>
            <a:srgbClr val="EEF2F8"/>
          </a:solidFill>
          <a:ln w="1270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0"/>
              </a:spcAft>
            </a:pPr>
            <a:r>
              <a:rPr sz="1300" b="1">
                <a:solidFill>
                  <a:srgbClr val="002060"/>
                </a:solidFill>
                <a:latin typeface="Arial"/>
              </a:rPr>
              <a:t>Safety rails: never AI, bot or manager; never claims to be human  |  numbers only from verified facts  |  names stay tokens in the sandbox  |  no price on the call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Goals</a:t>
            </a:r>
          </a:p>
        </p:txBody>
      </p:sp>
      <p:sp>
        <p:nvSpPr>
          <p:cNvPr id="3" name="Rounded Rectangle 2"/>
          <p:cNvSpPr/>
          <p:nvPr/>
        </p:nvSpPr>
        <p:spPr>
          <a:xfrm>
            <a:off x="566928" y="1463040"/>
            <a:ext cx="5212080" cy="137160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700" b="1">
                <a:solidFill>
                  <a:srgbClr val="FFFFFF"/>
                </a:solidFill>
                <a:latin typeface="Arial"/>
              </a:rPr>
              <a:t>NOW: Meeting arrangement</a:t>
            </a:r>
          </a:p>
          <a:p>
            <a:pPr algn="ctr">
              <a:spcAft>
                <a:spcPts val="0"/>
              </a:spcAft>
            </a:pPr>
            <a:r>
              <a:rPr sz="1300" b="0">
                <a:solidFill>
                  <a:srgbClr val="FFFFFF"/>
                </a:solidFill>
                <a:latin typeface="Arial"/>
              </a:rPr>
              <a:t>Right persona and hook, live adaptation</a:t>
            </a:r>
          </a:p>
        </p:txBody>
      </p:sp>
      <p:sp>
        <p:nvSpPr>
          <p:cNvPr id="4" name="Right Arrow 3"/>
          <p:cNvSpPr/>
          <p:nvPr/>
        </p:nvSpPr>
        <p:spPr>
          <a:xfrm>
            <a:off x="5852160" y="1920240"/>
            <a:ext cx="457200" cy="41148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0" y="1463040"/>
            <a:ext cx="5212080" cy="1371600"/>
          </a:xfrm>
          <a:prstGeom prst="roundRect">
            <a:avLst>
              <a:gd name="adj" fmla="val 6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1700" b="1">
                <a:solidFill>
                  <a:srgbClr val="FFFFFF"/>
                </a:solidFill>
                <a:latin typeface="Arial"/>
              </a:rPr>
              <a:t>NEXT: Seller enrichment</a:t>
            </a:r>
          </a:p>
          <a:p>
            <a:pPr algn="ctr">
              <a:spcAft>
                <a:spcPts val="0"/>
              </a:spcAft>
            </a:pPr>
            <a:r>
              <a:rPr sz="1300" b="0">
                <a:solidFill>
                  <a:srgbClr val="FFFFFF"/>
                </a:solidFill>
                <a:latin typeface="Arial"/>
              </a:rPr>
              <a:t>Catalogue improvement and suggestions</a:t>
            </a:r>
          </a:p>
        </p:txBody>
      </p:sp>
      <p:sp>
        <p:nvSpPr>
          <p:cNvPr id="6" name="TextBox 5"/>
          <p:cNvSpPr txBox="1"/>
          <p:nvPr/>
        </p:nvSpPr>
        <p:spPr>
          <a:xfrm>
            <a:off x="566928" y="3154680"/>
            <a:ext cx="10972800" cy="365760"/>
          </a:xfrm>
          <a:prstGeom prst="rect">
            <a:avLst/>
          </a:prstGeom>
          <a:noFill/>
        </p:spPr>
        <p:txBody>
          <a:bodyPr wrap="square">
            <a:spAutoFit/>
          </a:bodyPr>
          <a:lstStyle/>
          <a:p>
            <a:pPr algn="l">
              <a:spcAft>
                <a:spcPts val="0"/>
              </a:spcAft>
            </a:pPr>
            <a:r>
              <a:rPr sz="1600" b="1">
                <a:solidFill>
                  <a:srgbClr val="5B3E96"/>
                </a:solidFill>
                <a:latin typeface="Arial"/>
              </a:rPr>
              <a:t>Personalise further, per seller</a:t>
            </a:r>
          </a:p>
        </p:txBody>
      </p:sp>
      <p:sp>
        <p:nvSpPr>
          <p:cNvPr id="7" name="Rounded Rectangle 6"/>
          <p:cNvSpPr/>
          <p:nvPr/>
        </p:nvSpPr>
        <p:spPr>
          <a:xfrm>
            <a:off x="566928" y="3611880"/>
            <a:ext cx="3566160" cy="1828800"/>
          </a:xfrm>
          <a:prstGeom prst="roundRect">
            <a:avLst>
              <a:gd name="adj" fmla="val 6000"/>
            </a:avLst>
          </a:prstGeom>
          <a:solidFill>
            <a:srgbClr val="FFFFFF"/>
          </a:solidFill>
          <a:ln w="12700">
            <a:solidFill>
              <a:srgbClr val="2EA8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0" rIns="109728" tIns="54864" bIns="54864"/>
          <a:lstStyle/>
          <a:p>
            <a:pPr algn="l">
              <a:spcAft>
                <a:spcPts val="300"/>
              </a:spcAft>
            </a:pPr>
            <a:r>
              <a:rPr sz="1600" b="1">
                <a:solidFill>
                  <a:srgbClr val="2EA896"/>
                </a:solidFill>
                <a:latin typeface="Arial"/>
              </a:rPr>
              <a:t>Objective per seller</a:t>
            </a:r>
          </a:p>
          <a:p>
            <a:pPr algn="l">
              <a:spcAft>
                <a:spcPts val="0"/>
              </a:spcAft>
            </a:pPr>
            <a:r>
              <a:rPr sz="1300" b="0">
                <a:solidFill>
                  <a:srgbClr val="262626"/>
                </a:solidFill>
                <a:latin typeface="Arial"/>
              </a:rPr>
              <a:t>Meeting, enrichment or NPS</a:t>
            </a:r>
          </a:p>
        </p:txBody>
      </p:sp>
      <p:sp>
        <p:nvSpPr>
          <p:cNvPr id="8" name="Oval 7"/>
          <p:cNvSpPr/>
          <p:nvPr/>
        </p:nvSpPr>
        <p:spPr>
          <a:xfrm>
            <a:off x="749808" y="3794760"/>
            <a:ext cx="640080" cy="640080"/>
          </a:xfrm>
          <a:prstGeom prst="ellipse">
            <a:avLst/>
          </a:prstGeom>
          <a:solidFill>
            <a:srgbClr val="2EA89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2000" b="1">
                <a:solidFill>
                  <a:srgbClr val="FFFFFF"/>
                </a:solidFill>
                <a:latin typeface="Arial"/>
              </a:rPr>
              <a:t>1</a:t>
            </a:r>
          </a:p>
        </p:txBody>
      </p:sp>
      <p:sp>
        <p:nvSpPr>
          <p:cNvPr id="9" name="Rounded Rectangle 8"/>
          <p:cNvSpPr/>
          <p:nvPr/>
        </p:nvSpPr>
        <p:spPr>
          <a:xfrm>
            <a:off x="4407408" y="3611880"/>
            <a:ext cx="3566160" cy="1828800"/>
          </a:xfrm>
          <a:prstGeom prst="roundRect">
            <a:avLst>
              <a:gd name="adj" fmla="val 6000"/>
            </a:avLst>
          </a:prstGeom>
          <a:solidFill>
            <a:srgbClr val="FFFFFF"/>
          </a:solidFill>
          <a:ln w="12700">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0" rIns="109728" tIns="54864" bIns="54864"/>
          <a:lstStyle/>
          <a:p>
            <a:pPr algn="l">
              <a:spcAft>
                <a:spcPts val="300"/>
              </a:spcAft>
            </a:pPr>
            <a:r>
              <a:rPr sz="1600" b="1">
                <a:solidFill>
                  <a:srgbClr val="E08A00"/>
                </a:solidFill>
                <a:latin typeface="Arial"/>
              </a:rPr>
              <a:t>Preferred call time</a:t>
            </a:r>
          </a:p>
          <a:p>
            <a:pPr algn="l">
              <a:spcAft>
                <a:spcPts val="0"/>
              </a:spcAft>
            </a:pPr>
            <a:r>
              <a:rPr sz="1300" b="0">
                <a:solidFill>
                  <a:srgbClr val="262626"/>
                </a:solidFill>
                <a:latin typeface="Arial"/>
              </a:rPr>
              <a:t>More calls answered</a:t>
            </a:r>
          </a:p>
        </p:txBody>
      </p:sp>
      <p:sp>
        <p:nvSpPr>
          <p:cNvPr id="10" name="Oval 9"/>
          <p:cNvSpPr/>
          <p:nvPr/>
        </p:nvSpPr>
        <p:spPr>
          <a:xfrm>
            <a:off x="4590288" y="3794760"/>
            <a:ext cx="640080" cy="640080"/>
          </a:xfrm>
          <a:prstGeom prst="ellipse">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2000" b="1">
                <a:solidFill>
                  <a:srgbClr val="FFFFFF"/>
                </a:solidFill>
                <a:latin typeface="Arial"/>
              </a:rPr>
              <a:t>2</a:t>
            </a:r>
          </a:p>
        </p:txBody>
      </p:sp>
      <p:sp>
        <p:nvSpPr>
          <p:cNvPr id="11" name="Rounded Rectangle 10"/>
          <p:cNvSpPr/>
          <p:nvPr/>
        </p:nvSpPr>
        <p:spPr>
          <a:xfrm>
            <a:off x="8247888" y="3611880"/>
            <a:ext cx="3566160" cy="1828800"/>
          </a:xfrm>
          <a:prstGeom prst="roundRect">
            <a:avLst>
              <a:gd name="adj" fmla="val 6000"/>
            </a:avLst>
          </a:prstGeom>
          <a:solidFill>
            <a:srgbClr val="FFFFFF"/>
          </a:solidFill>
          <a:ln w="12700">
            <a:solidFill>
              <a:srgbClr val="5B3E96"/>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0" rIns="109728" tIns="54864" bIns="54864"/>
          <a:lstStyle/>
          <a:p>
            <a:pPr algn="l">
              <a:spcAft>
                <a:spcPts val="300"/>
              </a:spcAft>
            </a:pPr>
            <a:r>
              <a:rPr sz="1600" b="1">
                <a:solidFill>
                  <a:srgbClr val="5B3E96"/>
                </a:solidFill>
                <a:latin typeface="Arial"/>
              </a:rPr>
              <a:t>Preferred language</a:t>
            </a:r>
          </a:p>
          <a:p>
            <a:pPr algn="l">
              <a:spcAft>
                <a:spcPts val="0"/>
              </a:spcAft>
            </a:pPr>
            <a:r>
              <a:rPr sz="1300" b="0">
                <a:solidFill>
                  <a:srgbClr val="262626"/>
                </a:solidFill>
                <a:latin typeface="Arial"/>
              </a:rPr>
              <a:t>Suggested from the seller's data</a:t>
            </a:r>
          </a:p>
        </p:txBody>
      </p:sp>
      <p:sp>
        <p:nvSpPr>
          <p:cNvPr id="12" name="Oval 11"/>
          <p:cNvSpPr/>
          <p:nvPr/>
        </p:nvSpPr>
        <p:spPr>
          <a:xfrm>
            <a:off x="8430767" y="3794760"/>
            <a:ext cx="640080" cy="640080"/>
          </a:xfrm>
          <a:prstGeom prst="ellipse">
            <a:avLst/>
          </a:prstGeom>
          <a:solidFill>
            <a:srgbClr val="5B3E9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2000" b="1">
                <a:solidFill>
                  <a:srgbClr val="FFFFFF"/>
                </a:solidFill>
                <a:latin typeface="Arial"/>
              </a:rPr>
              <a:t>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Live Calls</a:t>
            </a:r>
          </a:p>
        </p:txBody>
      </p:sp>
      <p:sp>
        <p:nvSpPr>
          <p:cNvPr id="3" name="Rounded Rectangle 2"/>
          <p:cNvSpPr/>
          <p:nvPr/>
        </p:nvSpPr>
        <p:spPr>
          <a:xfrm>
            <a:off x="566928" y="1554480"/>
            <a:ext cx="3611880" cy="3017520"/>
          </a:xfrm>
          <a:prstGeom prst="roundRect">
            <a:avLst>
              <a:gd name="adj" fmla="val 6000"/>
            </a:avLst>
          </a:prstGeom>
          <a:solidFill>
            <a:srgbClr val="1B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4000" b="1">
                <a:solidFill>
                  <a:srgbClr val="FFFFFF"/>
                </a:solidFill>
                <a:latin typeface="Arial"/>
              </a:rPr>
              <a:t>▶</a:t>
            </a:r>
          </a:p>
          <a:p>
            <a:pPr algn="ctr">
              <a:spcAft>
                <a:spcPts val="100"/>
              </a:spcAft>
            </a:pPr>
            <a:r>
              <a:rPr sz="1400" b="1">
                <a:solidFill>
                  <a:srgbClr val="FFFFFF"/>
                </a:solidFill>
                <a:latin typeface="Arial"/>
              </a:rPr>
              <a:t>Call 1</a:t>
            </a:r>
          </a:p>
          <a:p>
            <a:pPr algn="ctr">
              <a:spcAft>
                <a:spcPts val="0"/>
              </a:spcAft>
            </a:pPr>
            <a:r>
              <a:rPr sz="1200" b="0">
                <a:solidFill>
                  <a:srgbClr val="BBBBBB"/>
                </a:solidFill>
                <a:latin typeface="Arial"/>
              </a:rPr>
              <a:t>Regional language, free seller</a:t>
            </a:r>
          </a:p>
        </p:txBody>
      </p:sp>
      <p:sp>
        <p:nvSpPr>
          <p:cNvPr id="4" name="Rounded Rectangle 3"/>
          <p:cNvSpPr/>
          <p:nvPr/>
        </p:nvSpPr>
        <p:spPr>
          <a:xfrm>
            <a:off x="4361688" y="1554480"/>
            <a:ext cx="3611880" cy="3017520"/>
          </a:xfrm>
          <a:prstGeom prst="roundRect">
            <a:avLst>
              <a:gd name="adj" fmla="val 6000"/>
            </a:avLst>
          </a:prstGeom>
          <a:solidFill>
            <a:srgbClr val="1B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4000" b="1">
                <a:solidFill>
                  <a:srgbClr val="FFFFFF"/>
                </a:solidFill>
                <a:latin typeface="Arial"/>
              </a:rPr>
              <a:t>▶</a:t>
            </a:r>
          </a:p>
          <a:p>
            <a:pPr algn="ctr">
              <a:spcAft>
                <a:spcPts val="100"/>
              </a:spcAft>
            </a:pPr>
            <a:r>
              <a:rPr sz="1400" b="1">
                <a:solidFill>
                  <a:srgbClr val="FFFFFF"/>
                </a:solidFill>
                <a:latin typeface="Arial"/>
              </a:rPr>
              <a:t>Call 2</a:t>
            </a:r>
          </a:p>
          <a:p>
            <a:pPr algn="ctr">
              <a:spcAft>
                <a:spcPts val="0"/>
              </a:spcAft>
            </a:pPr>
            <a:r>
              <a:rPr sz="1200" b="0">
                <a:solidFill>
                  <a:srgbClr val="BBBBBB"/>
                </a:solidFill>
                <a:latin typeface="Arial"/>
              </a:rPr>
              <a:t>Paying seller, says 'busy' mid-call</a:t>
            </a:r>
          </a:p>
        </p:txBody>
      </p:sp>
      <p:sp>
        <p:nvSpPr>
          <p:cNvPr id="5" name="Rounded Rectangle 4"/>
          <p:cNvSpPr/>
          <p:nvPr/>
        </p:nvSpPr>
        <p:spPr>
          <a:xfrm>
            <a:off x="8156448" y="1554480"/>
            <a:ext cx="3611880" cy="3017520"/>
          </a:xfrm>
          <a:prstGeom prst="roundRect">
            <a:avLst>
              <a:gd name="adj" fmla="val 6000"/>
            </a:avLst>
          </a:prstGeom>
          <a:solidFill>
            <a:srgbClr val="1B1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200"/>
              </a:spcAft>
            </a:pPr>
            <a:r>
              <a:rPr sz="4000" b="1">
                <a:solidFill>
                  <a:srgbClr val="FFFFFF"/>
                </a:solidFill>
                <a:latin typeface="Arial"/>
              </a:rPr>
              <a:t>▶</a:t>
            </a:r>
          </a:p>
          <a:p>
            <a:pPr algn="ctr">
              <a:spcAft>
                <a:spcPts val="100"/>
              </a:spcAft>
            </a:pPr>
            <a:r>
              <a:rPr sz="1400" b="1">
                <a:solidFill>
                  <a:srgbClr val="FFFFFF"/>
                </a:solidFill>
                <a:latin typeface="Arial"/>
              </a:rPr>
              <a:t>Call 3</a:t>
            </a:r>
          </a:p>
          <a:p>
            <a:pPr algn="ctr">
              <a:spcAft>
                <a:spcPts val="0"/>
              </a:spcAft>
            </a:pPr>
            <a:r>
              <a:rPr sz="1200" b="0">
                <a:solidFill>
                  <a:srgbClr val="BBBBBB"/>
                </a:solidFill>
                <a:latin typeface="Arial"/>
              </a:rPr>
              <a:t>High turnover, English start</a:t>
            </a:r>
          </a:p>
        </p:txBody>
      </p:sp>
      <p:sp>
        <p:nvSpPr>
          <p:cNvPr id="6" name="TextBox 5"/>
          <p:cNvSpPr txBox="1"/>
          <p:nvPr/>
        </p:nvSpPr>
        <p:spPr>
          <a:xfrm>
            <a:off x="566928" y="4937760"/>
            <a:ext cx="10972800" cy="365760"/>
          </a:xfrm>
          <a:prstGeom prst="rect">
            <a:avLst/>
          </a:prstGeom>
          <a:noFill/>
        </p:spPr>
        <p:txBody>
          <a:bodyPr wrap="square">
            <a:spAutoFit/>
          </a:bodyPr>
          <a:lstStyle/>
          <a:p>
            <a:pPr algn="ctr">
              <a:spcAft>
                <a:spcPts val="0"/>
              </a:spcAft>
            </a:pPr>
            <a:r>
              <a:rPr sz="1400" b="1">
                <a:solidFill>
                  <a:srgbClr val="002060"/>
                </a:solidFill>
                <a:latin typeface="Arial"/>
              </a:rPr>
              <a:t>Each call: persona spec with reasons, a live mid-call switch, the switch log</a:t>
            </a:r>
          </a:p>
        </p:txBody>
      </p:sp>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